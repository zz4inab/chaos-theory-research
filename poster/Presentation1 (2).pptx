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Lst>
  <p:sldSz cx="219456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8E5"/>
    <a:srgbClr val="3A7886"/>
    <a:srgbClr val="C482B6"/>
    <a:srgbClr val="66023B"/>
    <a:srgbClr val="DFEEF1"/>
    <a:srgbClr val="FFFFFF"/>
    <a:srgbClr val="4C9DB0"/>
    <a:srgbClr val="B4D6DE"/>
    <a:srgbClr val="FFEBAF"/>
    <a:srgbClr val="EBEE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5590" autoAdjust="0"/>
    <p:restoredTop sz="94660"/>
  </p:normalViewPr>
  <p:slideViewPr>
    <p:cSldViewPr snapToGrid="0">
      <p:cViewPr>
        <p:scale>
          <a:sx n="10" d="100"/>
          <a:sy n="10" d="100"/>
        </p:scale>
        <p:origin x="3739" y="7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45920" y="5387342"/>
            <a:ext cx="18653760" cy="11460480"/>
          </a:xfrm>
        </p:spPr>
        <p:txBody>
          <a:bodyPr anchor="b"/>
          <a:lstStyle>
            <a:lvl1pPr algn="ctr">
              <a:defRPr sz="14400"/>
            </a:lvl1pPr>
          </a:lstStyle>
          <a:p>
            <a:r>
              <a:rPr lang="en-US"/>
              <a:t>Click to edit Master title style</a:t>
            </a:r>
            <a:endParaRPr lang="en-US" dirty="0"/>
          </a:p>
        </p:txBody>
      </p:sp>
      <p:sp>
        <p:nvSpPr>
          <p:cNvPr id="3" name="Subtitle 2"/>
          <p:cNvSpPr>
            <a:spLocks noGrp="1"/>
          </p:cNvSpPr>
          <p:nvPr>
            <p:ph type="subTitle" idx="1"/>
          </p:nvPr>
        </p:nvSpPr>
        <p:spPr>
          <a:xfrm>
            <a:off x="2743200" y="17289782"/>
            <a:ext cx="16459200" cy="7947658"/>
          </a:xfrm>
        </p:spPr>
        <p:txBody>
          <a:bodyPr/>
          <a:lstStyle>
            <a:lvl1pPr marL="0" indent="0" algn="ctr">
              <a:buNone/>
              <a:defRPr sz="5760"/>
            </a:lvl1pPr>
            <a:lvl2pPr marL="1097280" indent="0" algn="ctr">
              <a:buNone/>
              <a:defRPr sz="4800"/>
            </a:lvl2pPr>
            <a:lvl3pPr marL="2194560" indent="0" algn="ctr">
              <a:buNone/>
              <a:defRPr sz="4320"/>
            </a:lvl3pPr>
            <a:lvl4pPr marL="3291840" indent="0" algn="ctr">
              <a:buNone/>
              <a:defRPr sz="3840"/>
            </a:lvl4pPr>
            <a:lvl5pPr marL="4389120" indent="0" algn="ctr">
              <a:buNone/>
              <a:defRPr sz="3840"/>
            </a:lvl5pPr>
            <a:lvl6pPr marL="5486400" indent="0" algn="ctr">
              <a:buNone/>
              <a:defRPr sz="3840"/>
            </a:lvl6pPr>
            <a:lvl7pPr marL="6583680" indent="0" algn="ctr">
              <a:buNone/>
              <a:defRPr sz="3840"/>
            </a:lvl7pPr>
            <a:lvl8pPr marL="7680960" indent="0" algn="ctr">
              <a:buNone/>
              <a:defRPr sz="3840"/>
            </a:lvl8pPr>
            <a:lvl9pPr marL="8778240" indent="0" algn="ctr">
              <a:buNone/>
              <a:defRPr sz="38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F5FD83-0891-4AB2-8D09-E4D3B4678726}"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D736A7-145F-42EB-99AC-F59D0DACADC0}" type="slidenum">
              <a:rPr lang="en-US" smtClean="0"/>
              <a:t>‹#›</a:t>
            </a:fld>
            <a:endParaRPr lang="en-US"/>
          </a:p>
        </p:txBody>
      </p:sp>
    </p:spTree>
    <p:extLst>
      <p:ext uri="{BB962C8B-B14F-4D97-AF65-F5344CB8AC3E}">
        <p14:creationId xmlns:p14="http://schemas.microsoft.com/office/powerpoint/2010/main" val="385457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F5FD83-0891-4AB2-8D09-E4D3B4678726}"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D736A7-145F-42EB-99AC-F59D0DACADC0}" type="slidenum">
              <a:rPr lang="en-US" smtClean="0"/>
              <a:t>‹#›</a:t>
            </a:fld>
            <a:endParaRPr lang="en-US"/>
          </a:p>
        </p:txBody>
      </p:sp>
    </p:spTree>
    <p:extLst>
      <p:ext uri="{BB962C8B-B14F-4D97-AF65-F5344CB8AC3E}">
        <p14:creationId xmlns:p14="http://schemas.microsoft.com/office/powerpoint/2010/main" val="1917995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97331" y="8206749"/>
            <a:ext cx="18928080" cy="13693138"/>
          </a:xfrm>
        </p:spPr>
        <p:txBody>
          <a:bodyPr anchor="b"/>
          <a:lstStyle>
            <a:lvl1pPr>
              <a:defRPr sz="14400"/>
            </a:lvl1pPr>
          </a:lstStyle>
          <a:p>
            <a:r>
              <a:rPr lang="en-US"/>
              <a:t>Click to edit Master title style</a:t>
            </a:r>
            <a:endParaRPr lang="en-US" dirty="0"/>
          </a:p>
        </p:txBody>
      </p:sp>
      <p:sp>
        <p:nvSpPr>
          <p:cNvPr id="3" name="Text Placeholder 2"/>
          <p:cNvSpPr>
            <a:spLocks noGrp="1"/>
          </p:cNvSpPr>
          <p:nvPr>
            <p:ph type="body" idx="1"/>
          </p:nvPr>
        </p:nvSpPr>
        <p:spPr>
          <a:xfrm>
            <a:off x="1497331" y="22029429"/>
            <a:ext cx="18928080" cy="7200898"/>
          </a:xfrm>
        </p:spPr>
        <p:txBody>
          <a:bodyPr/>
          <a:lstStyle>
            <a:lvl1pPr marL="0" indent="0">
              <a:buNone/>
              <a:defRPr sz="5760">
                <a:solidFill>
                  <a:schemeClr val="tx1"/>
                </a:solidFill>
              </a:defRPr>
            </a:lvl1pPr>
            <a:lvl2pPr marL="1097280" indent="0">
              <a:buNone/>
              <a:defRPr sz="4800">
                <a:solidFill>
                  <a:schemeClr val="tx1">
                    <a:tint val="75000"/>
                  </a:schemeClr>
                </a:solidFill>
              </a:defRPr>
            </a:lvl2pPr>
            <a:lvl3pPr marL="2194560" indent="0">
              <a:buNone/>
              <a:defRPr sz="4320">
                <a:solidFill>
                  <a:schemeClr val="tx1">
                    <a:tint val="75000"/>
                  </a:schemeClr>
                </a:solidFill>
              </a:defRPr>
            </a:lvl3pPr>
            <a:lvl4pPr marL="3291840" indent="0">
              <a:buNone/>
              <a:defRPr sz="3840">
                <a:solidFill>
                  <a:schemeClr val="tx1">
                    <a:tint val="75000"/>
                  </a:schemeClr>
                </a:solidFill>
              </a:defRPr>
            </a:lvl4pPr>
            <a:lvl5pPr marL="4389120" indent="0">
              <a:buNone/>
              <a:defRPr sz="3840">
                <a:solidFill>
                  <a:schemeClr val="tx1">
                    <a:tint val="75000"/>
                  </a:schemeClr>
                </a:solidFill>
              </a:defRPr>
            </a:lvl5pPr>
            <a:lvl6pPr marL="5486400" indent="0">
              <a:buNone/>
              <a:defRPr sz="3840">
                <a:solidFill>
                  <a:schemeClr val="tx1">
                    <a:tint val="75000"/>
                  </a:schemeClr>
                </a:solidFill>
              </a:defRPr>
            </a:lvl6pPr>
            <a:lvl7pPr marL="6583680" indent="0">
              <a:buNone/>
              <a:defRPr sz="3840">
                <a:solidFill>
                  <a:schemeClr val="tx1">
                    <a:tint val="75000"/>
                  </a:schemeClr>
                </a:solidFill>
              </a:defRPr>
            </a:lvl7pPr>
            <a:lvl8pPr marL="7680960" indent="0">
              <a:buNone/>
              <a:defRPr sz="3840">
                <a:solidFill>
                  <a:schemeClr val="tx1">
                    <a:tint val="75000"/>
                  </a:schemeClr>
                </a:solidFill>
              </a:defRPr>
            </a:lvl8pPr>
            <a:lvl9pPr marL="8778240" indent="0">
              <a:buNone/>
              <a:defRPr sz="38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F5FD83-0891-4AB2-8D09-E4D3B4678726}"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D736A7-145F-42EB-99AC-F59D0DACADC0}" type="slidenum">
              <a:rPr lang="en-US" smtClean="0"/>
              <a:t>‹#›</a:t>
            </a:fld>
            <a:endParaRPr lang="en-US"/>
          </a:p>
        </p:txBody>
      </p:sp>
    </p:spTree>
    <p:extLst>
      <p:ext uri="{BB962C8B-B14F-4D97-AF65-F5344CB8AC3E}">
        <p14:creationId xmlns:p14="http://schemas.microsoft.com/office/powerpoint/2010/main" val="2132834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087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109960" y="8763000"/>
            <a:ext cx="932688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F5FD83-0891-4AB2-8D09-E4D3B4678726}"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D736A7-145F-42EB-99AC-F59D0DACADC0}" type="slidenum">
              <a:rPr lang="en-US" smtClean="0"/>
              <a:t>‹#›</a:t>
            </a:fld>
            <a:endParaRPr lang="en-US"/>
          </a:p>
        </p:txBody>
      </p:sp>
    </p:spTree>
    <p:extLst>
      <p:ext uri="{BB962C8B-B14F-4D97-AF65-F5344CB8AC3E}">
        <p14:creationId xmlns:p14="http://schemas.microsoft.com/office/powerpoint/2010/main" val="3242074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1618" y="1752607"/>
            <a:ext cx="1892808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11621" y="8069582"/>
            <a:ext cx="9284016"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4" name="Content Placeholder 3"/>
          <p:cNvSpPr>
            <a:spLocks noGrp="1"/>
          </p:cNvSpPr>
          <p:nvPr>
            <p:ph sz="half" idx="2"/>
          </p:nvPr>
        </p:nvSpPr>
        <p:spPr>
          <a:xfrm>
            <a:off x="1511621" y="12024360"/>
            <a:ext cx="9284016"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109961" y="8069582"/>
            <a:ext cx="9329738" cy="3954778"/>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6" name="Content Placeholder 5"/>
          <p:cNvSpPr>
            <a:spLocks noGrp="1"/>
          </p:cNvSpPr>
          <p:nvPr>
            <p:ph sz="quarter" idx="4"/>
          </p:nvPr>
        </p:nvSpPr>
        <p:spPr>
          <a:xfrm>
            <a:off x="11109961" y="12024360"/>
            <a:ext cx="9329738"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F5FD83-0891-4AB2-8D09-E4D3B4678726}" type="datetimeFigureOut">
              <a:rPr lang="en-US" smtClean="0"/>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D736A7-145F-42EB-99AC-F59D0DACADC0}" type="slidenum">
              <a:rPr lang="en-US" smtClean="0"/>
              <a:t>‹#›</a:t>
            </a:fld>
            <a:endParaRPr lang="en-US"/>
          </a:p>
        </p:txBody>
      </p:sp>
    </p:spTree>
    <p:extLst>
      <p:ext uri="{BB962C8B-B14F-4D97-AF65-F5344CB8AC3E}">
        <p14:creationId xmlns:p14="http://schemas.microsoft.com/office/powerpoint/2010/main" val="324911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F5FD83-0891-4AB2-8D09-E4D3B4678726}" type="datetimeFigureOut">
              <a:rPr lang="en-US" smtClean="0"/>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D736A7-145F-42EB-99AC-F59D0DACADC0}" type="slidenum">
              <a:rPr lang="en-US" smtClean="0"/>
              <a:t>‹#›</a:t>
            </a:fld>
            <a:endParaRPr lang="en-US"/>
          </a:p>
        </p:txBody>
      </p:sp>
    </p:spTree>
    <p:extLst>
      <p:ext uri="{BB962C8B-B14F-4D97-AF65-F5344CB8AC3E}">
        <p14:creationId xmlns:p14="http://schemas.microsoft.com/office/powerpoint/2010/main" val="4034459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F5FD83-0891-4AB2-8D09-E4D3B4678726}" type="datetimeFigureOut">
              <a:rPr lang="en-US" smtClean="0"/>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D736A7-145F-42EB-99AC-F59D0DACADC0}" type="slidenum">
              <a:rPr lang="en-US" smtClean="0"/>
              <a:t>‹#›</a:t>
            </a:fld>
            <a:endParaRPr lang="en-US"/>
          </a:p>
        </p:txBody>
      </p:sp>
    </p:spTree>
    <p:extLst>
      <p:ext uri="{BB962C8B-B14F-4D97-AF65-F5344CB8AC3E}">
        <p14:creationId xmlns:p14="http://schemas.microsoft.com/office/powerpoint/2010/main" val="2972002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Content Placeholder 2"/>
          <p:cNvSpPr>
            <a:spLocks noGrp="1"/>
          </p:cNvSpPr>
          <p:nvPr>
            <p:ph idx="1"/>
          </p:nvPr>
        </p:nvSpPr>
        <p:spPr>
          <a:xfrm>
            <a:off x="9329738" y="4739647"/>
            <a:ext cx="11109960" cy="23393400"/>
          </a:xfrm>
        </p:spPr>
        <p:txBody>
          <a:bodyPr/>
          <a:lstStyle>
            <a:lvl1pPr>
              <a:defRPr sz="7680"/>
            </a:lvl1pPr>
            <a:lvl2pPr>
              <a:defRPr sz="6720"/>
            </a:lvl2pPr>
            <a:lvl3pPr>
              <a:defRPr sz="5760"/>
            </a:lvl3pPr>
            <a:lvl4pPr>
              <a:defRPr sz="4800"/>
            </a:lvl4pPr>
            <a:lvl5pPr>
              <a:defRPr sz="4800"/>
            </a:lvl5pPr>
            <a:lvl6pPr>
              <a:defRPr sz="4800"/>
            </a:lvl6pPr>
            <a:lvl7pPr>
              <a:defRPr sz="4800"/>
            </a:lvl7pPr>
            <a:lvl8pPr>
              <a:defRPr sz="4800"/>
            </a:lvl8pPr>
            <a:lvl9pPr>
              <a:defRPr sz="4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07F5FD83-0891-4AB2-8D09-E4D3B4678726}"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D736A7-145F-42EB-99AC-F59D0DACADC0}" type="slidenum">
              <a:rPr lang="en-US" smtClean="0"/>
              <a:t>‹#›</a:t>
            </a:fld>
            <a:endParaRPr lang="en-US"/>
          </a:p>
        </p:txBody>
      </p:sp>
    </p:spTree>
    <p:extLst>
      <p:ext uri="{BB962C8B-B14F-4D97-AF65-F5344CB8AC3E}">
        <p14:creationId xmlns:p14="http://schemas.microsoft.com/office/powerpoint/2010/main" val="1982102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2194560"/>
            <a:ext cx="7078027" cy="7680960"/>
          </a:xfrm>
        </p:spPr>
        <p:txBody>
          <a:bodyPr anchor="b"/>
          <a:lstStyle>
            <a:lvl1pPr>
              <a:defRPr sz="7680"/>
            </a:lvl1pPr>
          </a:lstStyle>
          <a:p>
            <a:r>
              <a:rPr lang="en-US"/>
              <a:t>Click to edit Master title style</a:t>
            </a:r>
            <a:endParaRPr lang="en-US" dirty="0"/>
          </a:p>
        </p:txBody>
      </p:sp>
      <p:sp>
        <p:nvSpPr>
          <p:cNvPr id="3" name="Picture Placeholder 2"/>
          <p:cNvSpPr>
            <a:spLocks noGrp="1" noChangeAspect="1"/>
          </p:cNvSpPr>
          <p:nvPr>
            <p:ph type="pic" idx="1"/>
          </p:nvPr>
        </p:nvSpPr>
        <p:spPr>
          <a:xfrm>
            <a:off x="9329738" y="4739647"/>
            <a:ext cx="11109960" cy="23393400"/>
          </a:xfrm>
        </p:spPr>
        <p:txBody>
          <a:bodyPr anchor="t"/>
          <a:lstStyle>
            <a:lvl1pPr marL="0" indent="0">
              <a:buNone/>
              <a:defRPr sz="7680"/>
            </a:lvl1pPr>
            <a:lvl2pPr marL="1097280" indent="0">
              <a:buNone/>
              <a:defRPr sz="6720"/>
            </a:lvl2pPr>
            <a:lvl3pPr marL="2194560" indent="0">
              <a:buNone/>
              <a:defRPr sz="5760"/>
            </a:lvl3pPr>
            <a:lvl4pPr marL="3291840" indent="0">
              <a:buNone/>
              <a:defRPr sz="4800"/>
            </a:lvl4pPr>
            <a:lvl5pPr marL="4389120" indent="0">
              <a:buNone/>
              <a:defRPr sz="4800"/>
            </a:lvl5pPr>
            <a:lvl6pPr marL="5486400" indent="0">
              <a:buNone/>
              <a:defRPr sz="4800"/>
            </a:lvl6pPr>
            <a:lvl7pPr marL="6583680" indent="0">
              <a:buNone/>
              <a:defRPr sz="4800"/>
            </a:lvl7pPr>
            <a:lvl8pPr marL="7680960" indent="0">
              <a:buNone/>
              <a:defRPr sz="4800"/>
            </a:lvl8pPr>
            <a:lvl9pPr marL="8778240" indent="0">
              <a:buNone/>
              <a:defRPr sz="4800"/>
            </a:lvl9pPr>
          </a:lstStyle>
          <a:p>
            <a:r>
              <a:rPr lang="en-US"/>
              <a:t>Click icon to add picture</a:t>
            </a:r>
            <a:endParaRPr lang="en-US" dirty="0"/>
          </a:p>
        </p:txBody>
      </p:sp>
      <p:sp>
        <p:nvSpPr>
          <p:cNvPr id="4" name="Text Placeholder 3"/>
          <p:cNvSpPr>
            <a:spLocks noGrp="1"/>
          </p:cNvSpPr>
          <p:nvPr>
            <p:ph type="body" sz="half" idx="2"/>
          </p:nvPr>
        </p:nvSpPr>
        <p:spPr>
          <a:xfrm>
            <a:off x="1511619" y="9875520"/>
            <a:ext cx="7078027" cy="18295622"/>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07F5FD83-0891-4AB2-8D09-E4D3B4678726}" type="datetimeFigureOut">
              <a:rPr lang="en-US" smtClean="0"/>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D736A7-145F-42EB-99AC-F59D0DACADC0}" type="slidenum">
              <a:rPr lang="en-US" smtClean="0"/>
              <a:t>‹#›</a:t>
            </a:fld>
            <a:endParaRPr lang="en-US"/>
          </a:p>
        </p:txBody>
      </p:sp>
    </p:spTree>
    <p:extLst>
      <p:ext uri="{BB962C8B-B14F-4D97-AF65-F5344CB8AC3E}">
        <p14:creationId xmlns:p14="http://schemas.microsoft.com/office/powerpoint/2010/main" val="3884752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F5FD83-0891-4AB2-8D09-E4D3B4678726}"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D736A7-145F-42EB-99AC-F59D0DACADC0}" type="slidenum">
              <a:rPr lang="en-US" smtClean="0"/>
              <a:t>‹#›</a:t>
            </a:fld>
            <a:endParaRPr lang="en-US"/>
          </a:p>
        </p:txBody>
      </p:sp>
    </p:spTree>
    <p:extLst>
      <p:ext uri="{BB962C8B-B14F-4D97-AF65-F5344CB8AC3E}">
        <p14:creationId xmlns:p14="http://schemas.microsoft.com/office/powerpoint/2010/main" val="4048483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04821" y="1752600"/>
            <a:ext cx="473202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08761" y="1752600"/>
            <a:ext cx="1392174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F5FD83-0891-4AB2-8D09-E4D3B4678726}" type="datetimeFigureOut">
              <a:rPr lang="en-US" smtClean="0"/>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D736A7-145F-42EB-99AC-F59D0DACADC0}" type="slidenum">
              <a:rPr lang="en-US" smtClean="0"/>
              <a:t>‹#›</a:t>
            </a:fld>
            <a:endParaRPr lang="en-US"/>
          </a:p>
        </p:txBody>
      </p:sp>
    </p:spTree>
    <p:extLst>
      <p:ext uri="{BB962C8B-B14F-4D97-AF65-F5344CB8AC3E}">
        <p14:creationId xmlns:p14="http://schemas.microsoft.com/office/powerpoint/2010/main" val="3388919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08760" y="1752607"/>
            <a:ext cx="1892808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08760" y="8763000"/>
            <a:ext cx="1892808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08760" y="30510487"/>
            <a:ext cx="4937760" cy="1752600"/>
          </a:xfrm>
          <a:prstGeom prst="rect">
            <a:avLst/>
          </a:prstGeom>
        </p:spPr>
        <p:txBody>
          <a:bodyPr vert="horz" lIns="91440" tIns="45720" rIns="91440" bIns="45720" rtlCol="0" anchor="ctr"/>
          <a:lstStyle>
            <a:lvl1pPr algn="l">
              <a:defRPr sz="2880">
                <a:solidFill>
                  <a:schemeClr val="tx1">
                    <a:tint val="75000"/>
                  </a:schemeClr>
                </a:solidFill>
              </a:defRPr>
            </a:lvl1pPr>
          </a:lstStyle>
          <a:p>
            <a:fld id="{07F5FD83-0891-4AB2-8D09-E4D3B4678726}" type="datetimeFigureOut">
              <a:rPr lang="en-US" smtClean="0"/>
              <a:t>7/21/2026</a:t>
            </a:fld>
            <a:endParaRPr lang="en-US"/>
          </a:p>
        </p:txBody>
      </p:sp>
      <p:sp>
        <p:nvSpPr>
          <p:cNvPr id="5" name="Footer Placeholder 4"/>
          <p:cNvSpPr>
            <a:spLocks noGrp="1"/>
          </p:cNvSpPr>
          <p:nvPr>
            <p:ph type="ftr" sz="quarter" idx="3"/>
          </p:nvPr>
        </p:nvSpPr>
        <p:spPr>
          <a:xfrm>
            <a:off x="7269480" y="30510487"/>
            <a:ext cx="7406640" cy="1752600"/>
          </a:xfrm>
          <a:prstGeom prst="rect">
            <a:avLst/>
          </a:prstGeom>
        </p:spPr>
        <p:txBody>
          <a:bodyPr vert="horz" lIns="91440" tIns="45720" rIns="91440" bIns="45720" rtlCol="0" anchor="ctr"/>
          <a:lstStyle>
            <a:lvl1pPr algn="ctr">
              <a:defRPr sz="28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499080" y="30510487"/>
            <a:ext cx="4937760" cy="1752600"/>
          </a:xfrm>
          <a:prstGeom prst="rect">
            <a:avLst/>
          </a:prstGeom>
        </p:spPr>
        <p:txBody>
          <a:bodyPr vert="horz" lIns="91440" tIns="45720" rIns="91440" bIns="45720" rtlCol="0" anchor="ctr"/>
          <a:lstStyle>
            <a:lvl1pPr algn="r">
              <a:defRPr sz="2880">
                <a:solidFill>
                  <a:schemeClr val="tx1">
                    <a:tint val="75000"/>
                  </a:schemeClr>
                </a:solidFill>
              </a:defRPr>
            </a:lvl1pPr>
          </a:lstStyle>
          <a:p>
            <a:fld id="{D8D736A7-145F-42EB-99AC-F59D0DACADC0}" type="slidenum">
              <a:rPr lang="en-US" smtClean="0"/>
              <a:t>‹#›</a:t>
            </a:fld>
            <a:endParaRPr lang="en-US"/>
          </a:p>
        </p:txBody>
      </p:sp>
    </p:spTree>
    <p:extLst>
      <p:ext uri="{BB962C8B-B14F-4D97-AF65-F5344CB8AC3E}">
        <p14:creationId xmlns:p14="http://schemas.microsoft.com/office/powerpoint/2010/main" val="29621221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94560" rtl="0" eaLnBrk="1" latinLnBrk="0" hangingPunct="1">
        <a:lnSpc>
          <a:spcPct val="90000"/>
        </a:lnSpc>
        <a:spcBef>
          <a:spcPct val="0"/>
        </a:spcBef>
        <a:buNone/>
        <a:defRPr sz="10560" kern="1200">
          <a:solidFill>
            <a:schemeClr val="tx1"/>
          </a:solidFill>
          <a:latin typeface="+mj-lt"/>
          <a:ea typeface="+mj-ea"/>
          <a:cs typeface="+mj-cs"/>
        </a:defRPr>
      </a:lvl1pPr>
    </p:titleStyle>
    <p:bodyStyle>
      <a:lvl1pPr marL="548640" indent="-548640" algn="l" defTabSz="2194560" rtl="0" eaLnBrk="1" latinLnBrk="0" hangingPunct="1">
        <a:lnSpc>
          <a:spcPct val="90000"/>
        </a:lnSpc>
        <a:spcBef>
          <a:spcPts val="2400"/>
        </a:spcBef>
        <a:buFont typeface="Arial" panose="020B0604020202020204" pitchFamily="34" charset="0"/>
        <a:buChar char="•"/>
        <a:defRPr sz="672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576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9.png"/><Relationship Id="rId3" Type="http://schemas.microsoft.com/office/2007/relationships/hdphoto" Target="../media/hdphoto1.wdp"/><Relationship Id="rId7" Type="http://schemas.openxmlformats.org/officeDocument/2006/relationships/image" Target="../media/image4.png"/><Relationship Id="rId12" Type="http://schemas.openxmlformats.org/officeDocument/2006/relationships/image" Target="../media/image8.png"/><Relationship Id="rId17" Type="http://schemas.openxmlformats.org/officeDocument/2006/relationships/image" Target="../media/image13.png"/><Relationship Id="rId2" Type="http://schemas.openxmlformats.org/officeDocument/2006/relationships/image" Target="../media/image1.png"/><Relationship Id="rId16" Type="http://schemas.openxmlformats.org/officeDocument/2006/relationships/image" Target="../media/image12.jp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7.png"/><Relationship Id="rId5" Type="http://schemas.microsoft.com/office/2007/relationships/hdphoto" Target="../media/hdphoto2.wdp"/><Relationship Id="rId15" Type="http://schemas.openxmlformats.org/officeDocument/2006/relationships/image" Target="../media/image11.png"/><Relationship Id="rId10"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5.png"/><Relationship Id="rId1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6A4FFB1-E753-B77B-FD37-48BF981779A0}"/>
              </a:ext>
            </a:extLst>
          </p:cNvPr>
          <p:cNvSpPr/>
          <p:nvPr/>
        </p:nvSpPr>
        <p:spPr>
          <a:xfrm>
            <a:off x="457200" y="457200"/>
            <a:ext cx="21031200" cy="32004000"/>
          </a:xfrm>
          <a:prstGeom prst="rect">
            <a:avLst/>
          </a:prstGeom>
          <a:solidFill>
            <a:srgbClr val="FFF8E5"/>
          </a:solidFill>
          <a:ln>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solidFill>
                <a:srgbClr val="FFFAC9"/>
              </a:solidFill>
            </a:endParaRPr>
          </a:p>
        </p:txBody>
      </p:sp>
      <p:sp>
        <p:nvSpPr>
          <p:cNvPr id="10" name="TextBox 9">
            <a:extLst>
              <a:ext uri="{FF2B5EF4-FFF2-40B4-BE49-F238E27FC236}">
                <a16:creationId xmlns:a16="http://schemas.microsoft.com/office/drawing/2014/main" id="{75FB5EE8-E703-30FD-585D-A4C129EEF4C8}"/>
              </a:ext>
            </a:extLst>
          </p:cNvPr>
          <p:cNvSpPr txBox="1"/>
          <p:nvPr/>
        </p:nvSpPr>
        <p:spPr>
          <a:xfrm>
            <a:off x="457199" y="487680"/>
            <a:ext cx="21031200" cy="2103120"/>
          </a:xfrm>
          <a:prstGeom prst="rect">
            <a:avLst/>
          </a:prstGeom>
          <a:solidFill>
            <a:srgbClr val="4C9DB0"/>
          </a:solid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endParaRPr lang="en-US" dirty="0"/>
          </a:p>
        </p:txBody>
      </p:sp>
      <p:sp>
        <p:nvSpPr>
          <p:cNvPr id="11" name="TextBox 10">
            <a:extLst>
              <a:ext uri="{FF2B5EF4-FFF2-40B4-BE49-F238E27FC236}">
                <a16:creationId xmlns:a16="http://schemas.microsoft.com/office/drawing/2014/main" id="{D4C62488-C1AA-6214-8F8C-EB40CB3C3D9E}"/>
              </a:ext>
            </a:extLst>
          </p:cNvPr>
          <p:cNvSpPr txBox="1"/>
          <p:nvPr/>
        </p:nvSpPr>
        <p:spPr>
          <a:xfrm>
            <a:off x="457200" y="2285999"/>
            <a:ext cx="21031200" cy="369332"/>
          </a:xfrm>
          <a:prstGeom prst="rect">
            <a:avLst/>
          </a:prstGeom>
          <a:solidFill>
            <a:srgbClr val="FFF8E5"/>
          </a:solidFill>
        </p:spPr>
        <p:txBody>
          <a:bodyPr wrap="square" rtlCol="0">
            <a:spAutoFit/>
          </a:bodyPr>
          <a:lstStyle/>
          <a:p>
            <a:endParaRPr lang="en-US" dirty="0">
              <a:solidFill>
                <a:srgbClr val="4C9DB0"/>
              </a:solidFill>
            </a:endParaRPr>
          </a:p>
        </p:txBody>
      </p:sp>
      <p:sp>
        <p:nvSpPr>
          <p:cNvPr id="12" name="TextBox 11">
            <a:extLst>
              <a:ext uri="{FF2B5EF4-FFF2-40B4-BE49-F238E27FC236}">
                <a16:creationId xmlns:a16="http://schemas.microsoft.com/office/drawing/2014/main" id="{2FBD9614-641C-7826-FDA4-9C5C2DED9922}"/>
              </a:ext>
            </a:extLst>
          </p:cNvPr>
          <p:cNvSpPr txBox="1"/>
          <p:nvPr/>
        </p:nvSpPr>
        <p:spPr>
          <a:xfrm>
            <a:off x="442066" y="3681490"/>
            <a:ext cx="10210802" cy="975360"/>
          </a:xfrm>
          <a:prstGeom prst="rect">
            <a:avLst/>
          </a:prstGeom>
          <a:solidFill>
            <a:srgbClr val="4C9DB0"/>
          </a:solidFill>
        </p:spPr>
        <p:txBody>
          <a:bodyPr wrap="square" rtlCol="0">
            <a:spAutoFit/>
          </a:bodyPr>
          <a:lstStyle/>
          <a:p>
            <a:endParaRPr lang="en-US" dirty="0"/>
          </a:p>
        </p:txBody>
      </p:sp>
      <p:sp>
        <p:nvSpPr>
          <p:cNvPr id="52" name="TextBox 51">
            <a:extLst>
              <a:ext uri="{FF2B5EF4-FFF2-40B4-BE49-F238E27FC236}">
                <a16:creationId xmlns:a16="http://schemas.microsoft.com/office/drawing/2014/main" id="{B3B473E0-7D28-1A74-7819-37B71E16B14A}"/>
              </a:ext>
            </a:extLst>
          </p:cNvPr>
          <p:cNvSpPr txBox="1"/>
          <p:nvPr/>
        </p:nvSpPr>
        <p:spPr>
          <a:xfrm>
            <a:off x="11277597" y="3682394"/>
            <a:ext cx="10210800" cy="975360"/>
          </a:xfrm>
          <a:prstGeom prst="rect">
            <a:avLst/>
          </a:prstGeom>
          <a:solidFill>
            <a:srgbClr val="4C9DB0"/>
          </a:solidFill>
        </p:spPr>
        <p:txBody>
          <a:bodyPr wrap="square" rtlCol="0">
            <a:spAutoFit/>
          </a:bodyPr>
          <a:lstStyle/>
          <a:p>
            <a:endParaRPr lang="en-US" dirty="0"/>
          </a:p>
        </p:txBody>
      </p:sp>
      <p:sp>
        <p:nvSpPr>
          <p:cNvPr id="70" name="TextBox 69">
            <a:extLst>
              <a:ext uri="{FF2B5EF4-FFF2-40B4-BE49-F238E27FC236}">
                <a16:creationId xmlns:a16="http://schemas.microsoft.com/office/drawing/2014/main" id="{94105C2A-5189-9938-8DC7-70CF367C1321}"/>
              </a:ext>
            </a:extLst>
          </p:cNvPr>
          <p:cNvSpPr txBox="1"/>
          <p:nvPr/>
        </p:nvSpPr>
        <p:spPr>
          <a:xfrm>
            <a:off x="454144" y="18084722"/>
            <a:ext cx="10210800" cy="975360"/>
          </a:xfrm>
          <a:prstGeom prst="rect">
            <a:avLst/>
          </a:prstGeom>
          <a:solidFill>
            <a:srgbClr val="4C9DB0"/>
          </a:solidFill>
        </p:spPr>
        <p:txBody>
          <a:bodyPr wrap="square" rtlCol="0">
            <a:spAutoFit/>
          </a:bodyPr>
          <a:lstStyle/>
          <a:p>
            <a:endParaRPr lang="en-US" dirty="0"/>
          </a:p>
        </p:txBody>
      </p:sp>
      <p:sp>
        <p:nvSpPr>
          <p:cNvPr id="76" name="TextBox 75">
            <a:extLst>
              <a:ext uri="{FF2B5EF4-FFF2-40B4-BE49-F238E27FC236}">
                <a16:creationId xmlns:a16="http://schemas.microsoft.com/office/drawing/2014/main" id="{26C8316D-3BB4-9F1A-2E25-3D6A1C54E027}"/>
              </a:ext>
            </a:extLst>
          </p:cNvPr>
          <p:cNvSpPr txBox="1"/>
          <p:nvPr/>
        </p:nvSpPr>
        <p:spPr>
          <a:xfrm>
            <a:off x="11272482" y="14926973"/>
            <a:ext cx="10210800" cy="975360"/>
          </a:xfrm>
          <a:prstGeom prst="rect">
            <a:avLst/>
          </a:prstGeom>
          <a:solidFill>
            <a:srgbClr val="4C9DB0"/>
          </a:solidFill>
        </p:spPr>
        <p:txBody>
          <a:bodyPr wrap="square" rtlCol="0">
            <a:spAutoFit/>
          </a:bodyPr>
          <a:lstStyle/>
          <a:p>
            <a:endParaRPr lang="en-US" dirty="0"/>
          </a:p>
        </p:txBody>
      </p:sp>
      <p:sp>
        <p:nvSpPr>
          <p:cNvPr id="78" name="TextBox 77">
            <a:extLst>
              <a:ext uri="{FF2B5EF4-FFF2-40B4-BE49-F238E27FC236}">
                <a16:creationId xmlns:a16="http://schemas.microsoft.com/office/drawing/2014/main" id="{CD41B77E-3538-F2F4-CF99-58C27F27AA5C}"/>
              </a:ext>
            </a:extLst>
          </p:cNvPr>
          <p:cNvSpPr txBox="1"/>
          <p:nvPr/>
        </p:nvSpPr>
        <p:spPr>
          <a:xfrm>
            <a:off x="11292734" y="28471768"/>
            <a:ext cx="10210800" cy="975360"/>
          </a:xfrm>
          <a:prstGeom prst="rect">
            <a:avLst/>
          </a:prstGeom>
          <a:solidFill>
            <a:srgbClr val="4C9DB0"/>
          </a:solidFill>
        </p:spPr>
        <p:txBody>
          <a:bodyPr wrap="square" rtlCol="0">
            <a:spAutoFit/>
          </a:bodyPr>
          <a:lstStyle/>
          <a:p>
            <a:endParaRPr lang="en-US" dirty="0"/>
          </a:p>
        </p:txBody>
      </p:sp>
      <p:sp>
        <p:nvSpPr>
          <p:cNvPr id="80" name="TextBox 79">
            <a:extLst>
              <a:ext uri="{FF2B5EF4-FFF2-40B4-BE49-F238E27FC236}">
                <a16:creationId xmlns:a16="http://schemas.microsoft.com/office/drawing/2014/main" id="{4E416D71-3EBC-1981-42E2-54E86BDAC38D}"/>
              </a:ext>
            </a:extLst>
          </p:cNvPr>
          <p:cNvSpPr txBox="1"/>
          <p:nvPr/>
        </p:nvSpPr>
        <p:spPr>
          <a:xfrm>
            <a:off x="462318" y="8453977"/>
            <a:ext cx="10210800" cy="975360"/>
          </a:xfrm>
          <a:prstGeom prst="rect">
            <a:avLst/>
          </a:prstGeom>
          <a:solidFill>
            <a:srgbClr val="4C9DB0"/>
          </a:solidFill>
        </p:spPr>
        <p:txBody>
          <a:bodyPr wrap="square" rtlCol="0">
            <a:spAutoFit/>
          </a:bodyPr>
          <a:lstStyle/>
          <a:p>
            <a:endParaRPr lang="en-US" dirty="0">
              <a:solidFill>
                <a:srgbClr val="66023B"/>
              </a:solidFill>
            </a:endParaRPr>
          </a:p>
        </p:txBody>
      </p:sp>
      <p:sp>
        <p:nvSpPr>
          <p:cNvPr id="86" name="TextBox 85">
            <a:extLst>
              <a:ext uri="{FF2B5EF4-FFF2-40B4-BE49-F238E27FC236}">
                <a16:creationId xmlns:a16="http://schemas.microsoft.com/office/drawing/2014/main" id="{D3309DEF-6CBD-32D5-BFD0-EC4ED08BFFE7}"/>
              </a:ext>
            </a:extLst>
          </p:cNvPr>
          <p:cNvSpPr txBox="1"/>
          <p:nvPr/>
        </p:nvSpPr>
        <p:spPr>
          <a:xfrm>
            <a:off x="11277597" y="4658307"/>
            <a:ext cx="10210800" cy="2677656"/>
          </a:xfrm>
          <a:prstGeom prst="rect">
            <a:avLst/>
          </a:prstGeom>
          <a:solidFill>
            <a:schemeClr val="bg1"/>
          </a:solidFill>
        </p:spPr>
        <p:txBody>
          <a:bodyPr wrap="square" rtlCol="0">
            <a:spAutoFit/>
          </a:bodyPr>
          <a:lstStyle/>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The Lorenz system introduced continuous-time chaos through three nonlinear differential equations. It revealed the </a:t>
            </a:r>
            <a:r>
              <a:rPr lang="en-US" sz="2400" b="1" dirty="0">
                <a:latin typeface="Sans Serif Collection" panose="020B0502040504020204" pitchFamily="34" charset="0"/>
                <a:ea typeface="Sans Serif Collection" panose="020B0502040504020204" pitchFamily="34" charset="0"/>
                <a:cs typeface="Sans Serif Collection" panose="020B0502040504020204" pitchFamily="34" charset="0"/>
              </a:rPr>
              <a:t>Butterfly Effect</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where tiny changes in initial conditions lead to vastly different outcomes. Although the system is deterministic, it produces complex, non-repeating motion confined within the iconic butterfly-shaped</a:t>
            </a:r>
            <a:r>
              <a:rPr lang="en-US" sz="2400" b="1" dirty="0">
                <a:latin typeface="Sans Serif Collection" panose="020B0502040504020204" pitchFamily="34" charset="0"/>
                <a:ea typeface="Sans Serif Collection" panose="020B0502040504020204" pitchFamily="34" charset="0"/>
                <a:cs typeface="Sans Serif Collection" panose="020B0502040504020204" pitchFamily="34" charset="0"/>
              </a:rPr>
              <a:t>.</a:t>
            </a: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89" name="TextBox 88">
            <a:extLst>
              <a:ext uri="{FF2B5EF4-FFF2-40B4-BE49-F238E27FC236}">
                <a16:creationId xmlns:a16="http://schemas.microsoft.com/office/drawing/2014/main" id="{FA85E884-A101-F039-76B5-FDD9759B15F1}"/>
              </a:ext>
            </a:extLst>
          </p:cNvPr>
          <p:cNvSpPr txBox="1"/>
          <p:nvPr/>
        </p:nvSpPr>
        <p:spPr>
          <a:xfrm>
            <a:off x="11292734" y="29447128"/>
            <a:ext cx="10210799" cy="2677656"/>
          </a:xfrm>
          <a:prstGeom prst="rect">
            <a:avLst/>
          </a:prstGeom>
          <a:solidFill>
            <a:schemeClr val="bg1"/>
          </a:solidFill>
        </p:spPr>
        <p:txBody>
          <a:bodyPr wrap="square" rtlCol="0">
            <a:spAutoFit/>
          </a:bodyPr>
          <a:lstStyle/>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This study demonstrated that nonlinearity enables simple deterministic systems to exhibit chaotic behavior. The logistic map illustrated the transition to chaos, the Lorenz system revealed the Butterfly Effect, and Chua's circuit showed that these same principles apply to real engineering systems. Future work could explore applications of chaos theory in robotics, aerospace control, and other complex engineering systems.</a:t>
            </a:r>
          </a:p>
        </p:txBody>
      </p:sp>
      <p:sp>
        <p:nvSpPr>
          <p:cNvPr id="90" name="TextBox 89">
            <a:extLst>
              <a:ext uri="{FF2B5EF4-FFF2-40B4-BE49-F238E27FC236}">
                <a16:creationId xmlns:a16="http://schemas.microsoft.com/office/drawing/2014/main" id="{4EA8A797-C151-960C-8F04-2199CE6AA54E}"/>
              </a:ext>
            </a:extLst>
          </p:cNvPr>
          <p:cNvSpPr txBox="1"/>
          <p:nvPr/>
        </p:nvSpPr>
        <p:spPr>
          <a:xfrm>
            <a:off x="3230147" y="753096"/>
            <a:ext cx="15485304" cy="1631216"/>
          </a:xfrm>
          <a:prstGeom prst="rect">
            <a:avLst/>
          </a:prstGeom>
          <a:noFill/>
        </p:spPr>
        <p:txBody>
          <a:bodyPr wrap="square" rtlCol="0">
            <a:spAutoFit/>
          </a:bodyPr>
          <a:lstStyle/>
          <a:p>
            <a:pPr algn="ctr"/>
            <a:r>
              <a:rPr lang="en-US" sz="5000" b="1" spc="300" dirty="0">
                <a:solidFill>
                  <a:srgbClr val="FFEBAF"/>
                </a:solidFill>
                <a:latin typeface="Sans Serif Collection" panose="020B0502040504020204" pitchFamily="34" charset="0"/>
                <a:ea typeface="Sans Serif Collection" panose="020B0502040504020204" pitchFamily="34" charset="0"/>
                <a:cs typeface="Sans Serif Collection" panose="020B0502040504020204" pitchFamily="34" charset="0"/>
              </a:rPr>
              <a:t>The Mathematics of Chaos: From Simple Maps to Chua’s Circuit.</a:t>
            </a:r>
          </a:p>
        </p:txBody>
      </p:sp>
      <p:pic>
        <p:nvPicPr>
          <p:cNvPr id="103" name="Picture 102">
            <a:extLst>
              <a:ext uri="{FF2B5EF4-FFF2-40B4-BE49-F238E27FC236}">
                <a16:creationId xmlns:a16="http://schemas.microsoft.com/office/drawing/2014/main" id="{5D04E8EF-FF3C-4F41-5AB6-5C471CC28875}"/>
              </a:ext>
            </a:extLst>
          </p:cNvPr>
          <p:cNvPicPr>
            <a:picLocks noChangeAspect="1"/>
          </p:cNvPicPr>
          <p:nvPr/>
        </p:nvPicPr>
        <p:blipFill>
          <a:blip r:embed="rId2">
            <a:extLst>
              <a:ext uri="{BEBA8EAE-BF5A-486C-A8C5-ECC9F3942E4B}">
                <a14:imgProps xmlns:a14="http://schemas.microsoft.com/office/drawing/2010/main">
                  <a14:imgLayer r:embed="rId3">
                    <a14:imgEffect>
                      <a14:artisticMarker/>
                    </a14:imgEffect>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723938" y="493880"/>
            <a:ext cx="2506209" cy="1762633"/>
          </a:xfrm>
          <a:prstGeom prst="rect">
            <a:avLst/>
          </a:prstGeom>
        </p:spPr>
      </p:pic>
      <p:pic>
        <p:nvPicPr>
          <p:cNvPr id="105" name="Picture 104">
            <a:extLst>
              <a:ext uri="{FF2B5EF4-FFF2-40B4-BE49-F238E27FC236}">
                <a16:creationId xmlns:a16="http://schemas.microsoft.com/office/drawing/2014/main" id="{F367D578-5E92-9004-36DE-31A0EEBE60D4}"/>
              </a:ext>
            </a:extLst>
          </p:cNvPr>
          <p:cNvPicPr>
            <a:picLocks noChangeAspect="1"/>
          </p:cNvPicPr>
          <p:nvPr/>
        </p:nvPicPr>
        <p:blipFill>
          <a:blip r:embed="rId4">
            <a:extLst>
              <a:ext uri="{BEBA8EAE-BF5A-486C-A8C5-ECC9F3942E4B}">
                <a14:imgProps xmlns:a14="http://schemas.microsoft.com/office/drawing/2010/main">
                  <a14:imgLayer r:embed="rId5">
                    <a14:imgEffect>
                      <a14:artisticMarker/>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9150771" y="376818"/>
            <a:ext cx="1902308" cy="1902308"/>
          </a:xfrm>
          <a:prstGeom prst="rect">
            <a:avLst/>
          </a:prstGeom>
          <a:ln>
            <a:noFill/>
          </a:ln>
        </p:spPr>
      </p:pic>
      <p:sp>
        <p:nvSpPr>
          <p:cNvPr id="106" name="TextBox 105">
            <a:extLst>
              <a:ext uri="{FF2B5EF4-FFF2-40B4-BE49-F238E27FC236}">
                <a16:creationId xmlns:a16="http://schemas.microsoft.com/office/drawing/2014/main" id="{134642C5-A8F6-7314-E4F1-3590EC2673C7}"/>
              </a:ext>
            </a:extLst>
          </p:cNvPr>
          <p:cNvSpPr txBox="1"/>
          <p:nvPr/>
        </p:nvSpPr>
        <p:spPr>
          <a:xfrm>
            <a:off x="2743199" y="2448641"/>
            <a:ext cx="16407572" cy="1323439"/>
          </a:xfrm>
          <a:prstGeom prst="rect">
            <a:avLst/>
          </a:prstGeom>
          <a:noFill/>
        </p:spPr>
        <p:txBody>
          <a:bodyPr wrap="square" rtlCol="0">
            <a:spAutoFit/>
          </a:bodyPr>
          <a:lstStyle/>
          <a:p>
            <a:pPr algn="ctr"/>
            <a:r>
              <a:rPr lang="en-US" sz="4000" u="sng" spc="100" dirty="0">
                <a:solidFill>
                  <a:srgbClr val="66023B"/>
                </a:solidFill>
                <a:latin typeface="Sans Serif Collection" panose="020B0502040504020204" pitchFamily="34" charset="0"/>
                <a:ea typeface="Sans Serif Collection" panose="020B0502040504020204" pitchFamily="34" charset="0"/>
                <a:cs typeface="Sans Serif Collection" panose="020B0502040504020204" pitchFamily="34" charset="0"/>
              </a:rPr>
              <a:t>Zainab Fawad</a:t>
            </a:r>
            <a:r>
              <a:rPr lang="en-US" sz="4000" spc="100" dirty="0">
                <a:solidFill>
                  <a:srgbClr val="66023B"/>
                </a:solidFill>
                <a:latin typeface="Sans Serif Collection" panose="020B0502040504020204" pitchFamily="34" charset="0"/>
                <a:ea typeface="Sans Serif Collection" panose="020B0502040504020204" pitchFamily="34" charset="0"/>
                <a:cs typeface="Sans Serif Collection" panose="020B0502040504020204" pitchFamily="34" charset="0"/>
              </a:rPr>
              <a:t>, Waqas Ali Azhar*</a:t>
            </a:r>
          </a:p>
          <a:p>
            <a:pPr algn="ctr"/>
            <a:r>
              <a:rPr lang="en-US" sz="4000" spc="100" dirty="0">
                <a:solidFill>
                  <a:srgbClr val="66023B"/>
                </a:solidFill>
                <a:latin typeface="Sans Serif Collection" panose="020B0502040504020204" pitchFamily="34" charset="0"/>
                <a:ea typeface="Sans Serif Collection" panose="020B0502040504020204" pitchFamily="34" charset="0"/>
                <a:cs typeface="Sans Serif Collection" panose="020B0502040504020204" pitchFamily="34" charset="0"/>
              </a:rPr>
              <a:t>BCP Tipu Sultan, Department Of Mathematics, SBASSE, LUMS</a:t>
            </a:r>
          </a:p>
        </p:txBody>
      </p:sp>
      <p:sp>
        <p:nvSpPr>
          <p:cNvPr id="107" name="TextBox 106">
            <a:extLst>
              <a:ext uri="{FF2B5EF4-FFF2-40B4-BE49-F238E27FC236}">
                <a16:creationId xmlns:a16="http://schemas.microsoft.com/office/drawing/2014/main" id="{1B3DE7C7-2781-990F-9823-A848EE57DA6C}"/>
              </a:ext>
            </a:extLst>
          </p:cNvPr>
          <p:cNvSpPr txBox="1"/>
          <p:nvPr/>
        </p:nvSpPr>
        <p:spPr>
          <a:xfrm>
            <a:off x="979767" y="3906977"/>
            <a:ext cx="9135399" cy="830997"/>
          </a:xfrm>
          <a:prstGeom prst="rect">
            <a:avLst/>
          </a:prstGeom>
          <a:noFill/>
        </p:spPr>
        <p:txBody>
          <a:bodyPr wrap="square" rtlCol="0">
            <a:spAutoFit/>
          </a:bodyPr>
          <a:lstStyle/>
          <a:p>
            <a:pPr algn="ctr"/>
            <a:r>
              <a:rPr lang="en-US" sz="4800" b="1" spc="300" dirty="0">
                <a:solidFill>
                  <a:srgbClr val="FFEBAF"/>
                </a:solidFill>
                <a:latin typeface="Sans Serif Collection" panose="020B0502040504020204" pitchFamily="34" charset="0"/>
                <a:ea typeface="Sans Serif Collection" panose="020B0502040504020204" pitchFamily="34" charset="0"/>
                <a:cs typeface="Sans Serif Collection" panose="020B0502040504020204" pitchFamily="34" charset="0"/>
              </a:rPr>
              <a:t>Introduction</a:t>
            </a:r>
          </a:p>
        </p:txBody>
      </p:sp>
      <p:sp>
        <p:nvSpPr>
          <p:cNvPr id="109" name="TextBox 108">
            <a:extLst>
              <a:ext uri="{FF2B5EF4-FFF2-40B4-BE49-F238E27FC236}">
                <a16:creationId xmlns:a16="http://schemas.microsoft.com/office/drawing/2014/main" id="{89C3FF55-7CBA-8FCB-7AB3-A729192DE2E9}"/>
              </a:ext>
            </a:extLst>
          </p:cNvPr>
          <p:cNvSpPr txBox="1"/>
          <p:nvPr/>
        </p:nvSpPr>
        <p:spPr>
          <a:xfrm>
            <a:off x="1154305" y="8738534"/>
            <a:ext cx="9135399" cy="830997"/>
          </a:xfrm>
          <a:prstGeom prst="rect">
            <a:avLst/>
          </a:prstGeom>
          <a:noFill/>
        </p:spPr>
        <p:txBody>
          <a:bodyPr wrap="square" rtlCol="0">
            <a:spAutoFit/>
          </a:bodyPr>
          <a:lstStyle/>
          <a:p>
            <a:pPr algn="ctr"/>
            <a:r>
              <a:rPr lang="en-US" sz="4800" b="1" spc="300" dirty="0">
                <a:solidFill>
                  <a:srgbClr val="FFEBAF"/>
                </a:solidFill>
                <a:latin typeface="Sans Serif Collection" panose="020B0502040504020204" pitchFamily="34" charset="0"/>
                <a:ea typeface="Sans Serif Collection" panose="020B0502040504020204" pitchFamily="34" charset="0"/>
                <a:cs typeface="Sans Serif Collection" panose="020B0502040504020204" pitchFamily="34" charset="0"/>
              </a:rPr>
              <a:t>Mathematical Foundations</a:t>
            </a:r>
          </a:p>
        </p:txBody>
      </p:sp>
      <p:sp>
        <p:nvSpPr>
          <p:cNvPr id="111" name="TextBox 110">
            <a:extLst>
              <a:ext uri="{FF2B5EF4-FFF2-40B4-BE49-F238E27FC236}">
                <a16:creationId xmlns:a16="http://schemas.microsoft.com/office/drawing/2014/main" id="{8343BA3D-43D3-5083-418E-FE189F40169A}"/>
              </a:ext>
            </a:extLst>
          </p:cNvPr>
          <p:cNvSpPr txBox="1"/>
          <p:nvPr/>
        </p:nvSpPr>
        <p:spPr>
          <a:xfrm>
            <a:off x="991844" y="18338013"/>
            <a:ext cx="9135399" cy="830997"/>
          </a:xfrm>
          <a:prstGeom prst="rect">
            <a:avLst/>
          </a:prstGeom>
          <a:noFill/>
        </p:spPr>
        <p:txBody>
          <a:bodyPr wrap="square" rtlCol="0">
            <a:spAutoFit/>
          </a:bodyPr>
          <a:lstStyle/>
          <a:p>
            <a:pPr algn="ctr"/>
            <a:r>
              <a:rPr lang="en-US" sz="4800" b="1" spc="300" dirty="0">
                <a:solidFill>
                  <a:srgbClr val="FFEBAF"/>
                </a:solidFill>
                <a:latin typeface="Sans Serif Collection" panose="020B0502040504020204" pitchFamily="34" charset="0"/>
                <a:ea typeface="Sans Serif Collection" panose="020B0502040504020204" pitchFamily="34" charset="0"/>
                <a:cs typeface="Sans Serif Collection" panose="020B0502040504020204" pitchFamily="34" charset="0"/>
              </a:rPr>
              <a:t>Route to Chaos</a:t>
            </a:r>
          </a:p>
        </p:txBody>
      </p:sp>
      <p:sp>
        <p:nvSpPr>
          <p:cNvPr id="117" name="TextBox 116">
            <a:extLst>
              <a:ext uri="{FF2B5EF4-FFF2-40B4-BE49-F238E27FC236}">
                <a16:creationId xmlns:a16="http://schemas.microsoft.com/office/drawing/2014/main" id="{42C85891-B931-8355-D7E1-24D8FC671DD2}"/>
              </a:ext>
            </a:extLst>
          </p:cNvPr>
          <p:cNvSpPr txBox="1"/>
          <p:nvPr/>
        </p:nvSpPr>
        <p:spPr>
          <a:xfrm>
            <a:off x="11830434" y="3935719"/>
            <a:ext cx="9135399" cy="830997"/>
          </a:xfrm>
          <a:prstGeom prst="rect">
            <a:avLst/>
          </a:prstGeom>
          <a:noFill/>
        </p:spPr>
        <p:txBody>
          <a:bodyPr wrap="square" rtlCol="0">
            <a:spAutoFit/>
          </a:bodyPr>
          <a:lstStyle/>
          <a:p>
            <a:pPr algn="ctr"/>
            <a:r>
              <a:rPr lang="en-US" sz="4800" b="1" spc="300" dirty="0">
                <a:solidFill>
                  <a:srgbClr val="FFEBAF"/>
                </a:solidFill>
                <a:latin typeface="Sans Serif Collection" panose="020B0502040504020204" pitchFamily="34" charset="0"/>
                <a:ea typeface="Sans Serif Collection" panose="020B0502040504020204" pitchFamily="34" charset="0"/>
                <a:cs typeface="Sans Serif Collection" panose="020B0502040504020204" pitchFamily="34" charset="0"/>
              </a:rPr>
              <a:t>The ‘Butterfly Effect’</a:t>
            </a:r>
          </a:p>
        </p:txBody>
      </p:sp>
      <p:sp>
        <p:nvSpPr>
          <p:cNvPr id="119" name="TextBox 118">
            <a:extLst>
              <a:ext uri="{FF2B5EF4-FFF2-40B4-BE49-F238E27FC236}">
                <a16:creationId xmlns:a16="http://schemas.microsoft.com/office/drawing/2014/main" id="{355D3B23-DF17-BA71-C7F9-EC0163238523}"/>
              </a:ext>
            </a:extLst>
          </p:cNvPr>
          <p:cNvSpPr txBox="1"/>
          <p:nvPr/>
        </p:nvSpPr>
        <p:spPr>
          <a:xfrm>
            <a:off x="11758416" y="15056915"/>
            <a:ext cx="9135399" cy="830997"/>
          </a:xfrm>
          <a:prstGeom prst="rect">
            <a:avLst/>
          </a:prstGeom>
          <a:noFill/>
        </p:spPr>
        <p:txBody>
          <a:bodyPr wrap="square" rtlCol="0">
            <a:spAutoFit/>
          </a:bodyPr>
          <a:lstStyle/>
          <a:p>
            <a:pPr algn="ctr"/>
            <a:r>
              <a:rPr lang="en-US" sz="4800" b="1" spc="300" dirty="0">
                <a:solidFill>
                  <a:srgbClr val="FFEBAF"/>
                </a:solidFill>
                <a:latin typeface="Sans Serif Collection" panose="020B0502040504020204" pitchFamily="34" charset="0"/>
                <a:ea typeface="Sans Serif Collection" panose="020B0502040504020204" pitchFamily="34" charset="0"/>
                <a:cs typeface="Sans Serif Collection" panose="020B0502040504020204" pitchFamily="34" charset="0"/>
              </a:rPr>
              <a:t>Application: Chua’s Circuit</a:t>
            </a:r>
          </a:p>
        </p:txBody>
      </p:sp>
      <p:sp>
        <p:nvSpPr>
          <p:cNvPr id="121" name="TextBox 120">
            <a:extLst>
              <a:ext uri="{FF2B5EF4-FFF2-40B4-BE49-F238E27FC236}">
                <a16:creationId xmlns:a16="http://schemas.microsoft.com/office/drawing/2014/main" id="{4C6000B0-9CC1-5A3B-3311-0AEF249C1F04}"/>
              </a:ext>
            </a:extLst>
          </p:cNvPr>
          <p:cNvSpPr txBox="1"/>
          <p:nvPr/>
        </p:nvSpPr>
        <p:spPr>
          <a:xfrm>
            <a:off x="11818354" y="28798696"/>
            <a:ext cx="9135399" cy="830997"/>
          </a:xfrm>
          <a:prstGeom prst="rect">
            <a:avLst/>
          </a:prstGeom>
          <a:noFill/>
        </p:spPr>
        <p:txBody>
          <a:bodyPr wrap="square" rtlCol="0">
            <a:spAutoFit/>
          </a:bodyPr>
          <a:lstStyle/>
          <a:p>
            <a:pPr algn="ctr"/>
            <a:r>
              <a:rPr lang="en-US" sz="4800" b="1" spc="300" dirty="0">
                <a:solidFill>
                  <a:srgbClr val="FFEBAF"/>
                </a:solidFill>
                <a:latin typeface="Sans Serif Collection" panose="020B0502040504020204" pitchFamily="34" charset="0"/>
                <a:ea typeface="Sans Serif Collection" panose="020B0502040504020204" pitchFamily="34" charset="0"/>
                <a:cs typeface="Sans Serif Collection" panose="020B0502040504020204" pitchFamily="34" charset="0"/>
              </a:rPr>
              <a:t>Conclusions &amp; Future Work</a:t>
            </a:r>
          </a:p>
        </p:txBody>
      </p:sp>
      <p:sp>
        <p:nvSpPr>
          <p:cNvPr id="122" name="TextBox 121">
            <a:extLst>
              <a:ext uri="{FF2B5EF4-FFF2-40B4-BE49-F238E27FC236}">
                <a16:creationId xmlns:a16="http://schemas.microsoft.com/office/drawing/2014/main" id="{AE1D1CA0-A884-ED17-27AA-375D2CFF0136}"/>
              </a:ext>
            </a:extLst>
          </p:cNvPr>
          <p:cNvSpPr txBox="1"/>
          <p:nvPr/>
        </p:nvSpPr>
        <p:spPr>
          <a:xfrm>
            <a:off x="436948" y="4656850"/>
            <a:ext cx="10210799" cy="3291840"/>
          </a:xfrm>
          <a:prstGeom prst="rect">
            <a:avLst/>
          </a:prstGeom>
          <a:solidFill>
            <a:schemeClr val="bg1"/>
          </a:solidFill>
        </p:spPr>
        <p:txBody>
          <a:bodyPr wrap="square" rtlCol="0">
            <a:spAutoFit/>
          </a:bodyPr>
          <a:lstStyle/>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Chaos theory examines how deterministic systems can produce seemingly unpredictable behavior due to nonlinearity and sensitivity to initial conditions. Although governed by fixed mathematical laws, these systems can evolve into complex, chaotic patterns. This project investigates how chaos emerges from nonlinearity in deterministic systems using mathematical models and computational simulations.</a:t>
            </a:r>
          </a:p>
          <a:p>
            <a:endParaRPr lang="en-US" sz="28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8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23" name="Rectangle: Rounded Corners 122">
            <a:extLst>
              <a:ext uri="{FF2B5EF4-FFF2-40B4-BE49-F238E27FC236}">
                <a16:creationId xmlns:a16="http://schemas.microsoft.com/office/drawing/2014/main" id="{1CBCC9AD-960A-14F6-5D4D-A051C5B4317F}"/>
              </a:ext>
            </a:extLst>
          </p:cNvPr>
          <p:cNvSpPr/>
          <p:nvPr/>
        </p:nvSpPr>
        <p:spPr>
          <a:xfrm>
            <a:off x="672205" y="7021933"/>
            <a:ext cx="1422620" cy="830996"/>
          </a:xfrm>
          <a:prstGeom prst="roundRect">
            <a:avLst/>
          </a:prstGeom>
          <a:solidFill>
            <a:srgbClr val="3A7886"/>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2000" b="1" dirty="0">
                <a:solidFill>
                  <a:srgbClr val="E4E8C6"/>
                </a:solidFill>
              </a:rPr>
              <a:t>SIMPLE RULES</a:t>
            </a:r>
          </a:p>
        </p:txBody>
      </p:sp>
      <p:sp>
        <p:nvSpPr>
          <p:cNvPr id="156" name="Rectangle: Rounded Corners 155">
            <a:extLst>
              <a:ext uri="{FF2B5EF4-FFF2-40B4-BE49-F238E27FC236}">
                <a16:creationId xmlns:a16="http://schemas.microsoft.com/office/drawing/2014/main" id="{D934C533-7B93-5C6A-6BF5-0B8EDB4307EA}"/>
              </a:ext>
            </a:extLst>
          </p:cNvPr>
          <p:cNvSpPr/>
          <p:nvPr/>
        </p:nvSpPr>
        <p:spPr>
          <a:xfrm>
            <a:off x="3090944" y="7021933"/>
            <a:ext cx="1422620" cy="830996"/>
          </a:xfrm>
          <a:prstGeom prst="roundRect">
            <a:avLst/>
          </a:prstGeom>
          <a:solidFill>
            <a:srgbClr val="3A7886"/>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2000" b="1" dirty="0">
                <a:solidFill>
                  <a:srgbClr val="E4E8C6"/>
                </a:solidFill>
              </a:rPr>
              <a:t>NON-LINEARITY</a:t>
            </a:r>
          </a:p>
        </p:txBody>
      </p:sp>
      <p:sp>
        <p:nvSpPr>
          <p:cNvPr id="158" name="Rectangle: Rounded Corners 157">
            <a:extLst>
              <a:ext uri="{FF2B5EF4-FFF2-40B4-BE49-F238E27FC236}">
                <a16:creationId xmlns:a16="http://schemas.microsoft.com/office/drawing/2014/main" id="{DEFECC19-A950-9AED-EB15-897A9E911BF6}"/>
              </a:ext>
            </a:extLst>
          </p:cNvPr>
          <p:cNvSpPr/>
          <p:nvPr/>
        </p:nvSpPr>
        <p:spPr>
          <a:xfrm>
            <a:off x="5823605" y="7021933"/>
            <a:ext cx="1422620" cy="830996"/>
          </a:xfrm>
          <a:prstGeom prst="roundRect">
            <a:avLst/>
          </a:prstGeom>
          <a:solidFill>
            <a:srgbClr val="3A7886"/>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2000" b="1" dirty="0">
                <a:solidFill>
                  <a:srgbClr val="E4E8C6"/>
                </a:solidFill>
              </a:rPr>
              <a:t>CHAOS</a:t>
            </a:r>
          </a:p>
        </p:txBody>
      </p:sp>
      <p:cxnSp>
        <p:nvCxnSpPr>
          <p:cNvPr id="159" name="Straight Arrow Connector 158">
            <a:extLst>
              <a:ext uri="{FF2B5EF4-FFF2-40B4-BE49-F238E27FC236}">
                <a16:creationId xmlns:a16="http://schemas.microsoft.com/office/drawing/2014/main" id="{B2B4631D-9586-4D58-7854-0392740F2DF0}"/>
              </a:ext>
            </a:extLst>
          </p:cNvPr>
          <p:cNvCxnSpPr>
            <a:cxnSpLocks/>
          </p:cNvCxnSpPr>
          <p:nvPr/>
        </p:nvCxnSpPr>
        <p:spPr>
          <a:xfrm>
            <a:off x="2145625" y="7437431"/>
            <a:ext cx="871895" cy="0"/>
          </a:xfrm>
          <a:prstGeom prst="straightConnector1">
            <a:avLst/>
          </a:prstGeom>
          <a:ln>
            <a:solidFill>
              <a:srgbClr val="5A403C"/>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F014A5EA-EF01-80BF-B727-4E9321E28F1A}"/>
              </a:ext>
            </a:extLst>
          </p:cNvPr>
          <p:cNvCxnSpPr>
            <a:cxnSpLocks/>
          </p:cNvCxnSpPr>
          <p:nvPr/>
        </p:nvCxnSpPr>
        <p:spPr>
          <a:xfrm>
            <a:off x="4662760" y="7438053"/>
            <a:ext cx="1059245" cy="0"/>
          </a:xfrm>
          <a:prstGeom prst="straightConnector1">
            <a:avLst/>
          </a:prstGeom>
          <a:ln>
            <a:solidFill>
              <a:srgbClr val="5A403C"/>
            </a:solidFill>
            <a:tailEnd type="triangle"/>
          </a:ln>
        </p:spPr>
        <p:style>
          <a:lnRef idx="1">
            <a:schemeClr val="accent1"/>
          </a:lnRef>
          <a:fillRef idx="0">
            <a:schemeClr val="accent1"/>
          </a:fillRef>
          <a:effectRef idx="0">
            <a:schemeClr val="accent1"/>
          </a:effectRef>
          <a:fontRef idx="minor">
            <a:schemeClr val="tx1"/>
          </a:fontRef>
        </p:style>
      </p:cxnSp>
      <p:sp>
        <p:nvSpPr>
          <p:cNvPr id="165" name="Rectangle: Rounded Corners 164">
            <a:extLst>
              <a:ext uri="{FF2B5EF4-FFF2-40B4-BE49-F238E27FC236}">
                <a16:creationId xmlns:a16="http://schemas.microsoft.com/office/drawing/2014/main" id="{8753F6B1-ACDE-9194-964B-253CF6FF635E}"/>
              </a:ext>
            </a:extLst>
          </p:cNvPr>
          <p:cNvSpPr/>
          <p:nvPr/>
        </p:nvSpPr>
        <p:spPr>
          <a:xfrm>
            <a:off x="8534065" y="7021933"/>
            <a:ext cx="1422620" cy="830996"/>
          </a:xfrm>
          <a:prstGeom prst="roundRect">
            <a:avLst/>
          </a:prstGeom>
          <a:solidFill>
            <a:srgbClr val="3A7886"/>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2000" b="1" dirty="0">
                <a:solidFill>
                  <a:srgbClr val="E4E8C6"/>
                </a:solidFill>
              </a:rPr>
              <a:t>COMPLEX BEHAVIOR</a:t>
            </a:r>
          </a:p>
        </p:txBody>
      </p:sp>
      <p:cxnSp>
        <p:nvCxnSpPr>
          <p:cNvPr id="168" name="Straight Arrow Connector 167">
            <a:extLst>
              <a:ext uri="{FF2B5EF4-FFF2-40B4-BE49-F238E27FC236}">
                <a16:creationId xmlns:a16="http://schemas.microsoft.com/office/drawing/2014/main" id="{B0F19F25-8D77-5295-86DA-B34F46A8E18A}"/>
              </a:ext>
            </a:extLst>
          </p:cNvPr>
          <p:cNvCxnSpPr>
            <a:cxnSpLocks/>
          </p:cNvCxnSpPr>
          <p:nvPr/>
        </p:nvCxnSpPr>
        <p:spPr>
          <a:xfrm>
            <a:off x="7327505" y="7437431"/>
            <a:ext cx="1059245" cy="0"/>
          </a:xfrm>
          <a:prstGeom prst="straightConnector1">
            <a:avLst/>
          </a:prstGeom>
          <a:ln>
            <a:solidFill>
              <a:srgbClr val="5A403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4" name="TextBox 83">
                <a:extLst>
                  <a:ext uri="{FF2B5EF4-FFF2-40B4-BE49-F238E27FC236}">
                    <a16:creationId xmlns:a16="http://schemas.microsoft.com/office/drawing/2014/main" id="{D210B5F3-E807-419B-568C-C39BB736C958}"/>
                  </a:ext>
                </a:extLst>
              </p:cNvPr>
              <p:cNvSpPr txBox="1"/>
              <p:nvPr/>
            </p:nvSpPr>
            <p:spPr>
              <a:xfrm>
                <a:off x="459257" y="9437250"/>
                <a:ext cx="10210799" cy="7531934"/>
              </a:xfrm>
              <a:prstGeom prst="rect">
                <a:avLst/>
              </a:prstGeom>
              <a:solidFill>
                <a:schemeClr val="bg1"/>
              </a:solidFill>
            </p:spPr>
            <p:txBody>
              <a:bodyPr wrap="square" rtlCol="0">
                <a:spAutoFit/>
              </a:bodyPr>
              <a:lstStyle/>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Chaos theory begins with deterministic dynamical systems, where future behavior is entirely determined by mathematical rules. Through mathematical models such as the circle map, the doubling map and the logistic map, this study explores how simple nonlinear equations produce increasingly complex behavior. These models lay the foundation to understanding complex systems like The Lorenz Attractor by explaining  nonlinearity, sensitive dependance and bifurcations. Figure 1.1 and 1.2 show the Doubling Map and the Logistic Map </a:t>
                </a: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342900" indent="-342900">
                  <a:buFont typeface="Arial" panose="020B0604020202020204" pitchFamily="34" charset="0"/>
                  <a:buChar char="•"/>
                </a:pPr>
                <a:r>
                  <a:rPr lang="en-US" sz="2400" b="1" spc="300" dirty="0">
                    <a:latin typeface="Sans Serif Collection" panose="020B0502040504020204" pitchFamily="34" charset="0"/>
                    <a:ea typeface="Sans Serif Collection" panose="020B0502040504020204" pitchFamily="34" charset="0"/>
                    <a:cs typeface="Sans Serif Collection" panose="020B0502040504020204" pitchFamily="34" charset="0"/>
                  </a:rPr>
                  <a:t>The Doubling Map:</a:t>
                </a:r>
              </a:p>
              <a:p>
                <a14:m>
                  <m:oMath xmlns:m="http://schemas.openxmlformats.org/officeDocument/2006/math">
                    <m:sSub>
                      <m:sSubPr>
                        <m:ctrlPr>
                          <a:rPr lang="en-US" sz="2400" b="0" i="1" spc="300" smtClean="0">
                            <a:latin typeface="Cambria Math" panose="02040503050406030204" pitchFamily="18" charset="0"/>
                            <a:ea typeface="Sans Serif Collection" panose="020B0502040504020204" pitchFamily="34" charset="0"/>
                            <a:cs typeface="Sans Serif Collection" panose="020B0502040504020204" pitchFamily="34" charset="0"/>
                          </a:rPr>
                        </m:ctrlPr>
                      </m:sSubPr>
                      <m:e>
                        <m:r>
                          <a:rPr lang="en-US" sz="2400" b="0" i="1" spc="300" smtClean="0">
                            <a:latin typeface="Cambria Math" panose="02040503050406030204" pitchFamily="18" charset="0"/>
                            <a:ea typeface="Sans Serif Collection" panose="020B0502040504020204" pitchFamily="34" charset="0"/>
                            <a:cs typeface="Sans Serif Collection" panose="020B0502040504020204" pitchFamily="34" charset="0"/>
                          </a:rPr>
                          <m:t>          </m:t>
                        </m:r>
                        <m:r>
                          <a:rPr lang="en-US" sz="2400" b="0" i="1" spc="300" smtClean="0">
                            <a:latin typeface="Cambria Math" panose="02040503050406030204" pitchFamily="18" charset="0"/>
                            <a:ea typeface="Sans Serif Collection" panose="020B0502040504020204" pitchFamily="34" charset="0"/>
                            <a:cs typeface="Sans Serif Collection" panose="020B0502040504020204" pitchFamily="34" charset="0"/>
                          </a:rPr>
                          <m:t>𝑥</m:t>
                        </m:r>
                      </m:e>
                      <m:sub>
                        <m:d>
                          <m:dPr>
                            <m:begChr m:val="{"/>
                            <m:endChr m:val="}"/>
                            <m:ctrlPr>
                              <a:rPr lang="en-US" sz="2400" b="0" i="1" spc="300" smtClean="0">
                                <a:latin typeface="Cambria Math" panose="02040503050406030204" pitchFamily="18" charset="0"/>
                                <a:ea typeface="Sans Serif Collection" panose="020B0502040504020204" pitchFamily="34" charset="0"/>
                                <a:cs typeface="Sans Serif Collection" panose="020B0502040504020204" pitchFamily="34" charset="0"/>
                              </a:rPr>
                            </m:ctrlPr>
                          </m:dPr>
                          <m:e>
                            <m:r>
                              <a:rPr lang="en-US" sz="2400" b="0" i="1" spc="300" smtClean="0">
                                <a:latin typeface="Cambria Math" panose="02040503050406030204" pitchFamily="18" charset="0"/>
                                <a:ea typeface="Sans Serif Collection" panose="020B0502040504020204" pitchFamily="34" charset="0"/>
                                <a:cs typeface="Sans Serif Collection" panose="020B0502040504020204" pitchFamily="34" charset="0"/>
                              </a:rPr>
                              <m:t>𝑛</m:t>
                            </m:r>
                            <m:r>
                              <a:rPr lang="en-US" sz="2400" b="0" i="1" spc="300" smtClean="0">
                                <a:latin typeface="Cambria Math" panose="02040503050406030204" pitchFamily="18" charset="0"/>
                                <a:ea typeface="Sans Serif Collection" panose="020B0502040504020204" pitchFamily="34" charset="0"/>
                                <a:cs typeface="Sans Serif Collection" panose="020B0502040504020204" pitchFamily="34" charset="0"/>
                              </a:rPr>
                              <m:t>+1</m:t>
                            </m:r>
                          </m:e>
                        </m:d>
                      </m:sub>
                    </m:sSub>
                    <m:r>
                      <a:rPr lang="en-US" sz="2400" b="0" i="1" spc="300" smtClean="0">
                        <a:latin typeface="Cambria Math" panose="02040503050406030204" pitchFamily="18" charset="0"/>
                        <a:ea typeface="Sans Serif Collection" panose="020B0502040504020204" pitchFamily="34" charset="0"/>
                        <a:cs typeface="Sans Serif Collection" panose="020B0502040504020204" pitchFamily="34" charset="0"/>
                      </a:rPr>
                      <m:t>=2</m:t>
                    </m:r>
                    <m:sSub>
                      <m:sSubPr>
                        <m:ctrlPr>
                          <a:rPr lang="en-US" sz="2400" b="0" i="1" spc="300" smtClean="0">
                            <a:latin typeface="Cambria Math" panose="02040503050406030204" pitchFamily="18" charset="0"/>
                            <a:ea typeface="Sans Serif Collection" panose="020B0502040504020204" pitchFamily="34" charset="0"/>
                            <a:cs typeface="Sans Serif Collection" panose="020B0502040504020204" pitchFamily="34" charset="0"/>
                          </a:rPr>
                        </m:ctrlPr>
                      </m:sSubPr>
                      <m:e>
                        <m:r>
                          <a:rPr lang="en-US" sz="2400" b="0" i="1" spc="300" smtClean="0">
                            <a:latin typeface="Cambria Math" panose="02040503050406030204" pitchFamily="18" charset="0"/>
                            <a:ea typeface="Sans Serif Collection" panose="020B0502040504020204" pitchFamily="34" charset="0"/>
                            <a:cs typeface="Sans Serif Collection" panose="020B0502040504020204" pitchFamily="34" charset="0"/>
                          </a:rPr>
                          <m:t>𝑥</m:t>
                        </m:r>
                      </m:e>
                      <m:sub>
                        <m:r>
                          <a:rPr lang="en-US" sz="2400" b="0" i="1" spc="300" smtClean="0">
                            <a:latin typeface="Cambria Math" panose="02040503050406030204" pitchFamily="18" charset="0"/>
                            <a:ea typeface="Sans Serif Collection" panose="020B0502040504020204" pitchFamily="34" charset="0"/>
                            <a:cs typeface="Sans Serif Collection" panose="020B0502040504020204" pitchFamily="34" charset="0"/>
                          </a:rPr>
                          <m:t>𝑛</m:t>
                        </m:r>
                      </m:sub>
                    </m:sSub>
                  </m:oMath>
                </a14:m>
                <a:r>
                  <a:rPr lang="en-US" sz="2400" spc="3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endParaRPr lang="en-US" sz="2400" spc="3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marL="342900" indent="-342900">
                  <a:buFont typeface="Arial" panose="020B0604020202020204" pitchFamily="34" charset="0"/>
                  <a:buChar char="•"/>
                </a:pPr>
                <a:r>
                  <a:rPr lang="en-US" sz="2400" b="1" spc="300" dirty="0">
                    <a:latin typeface="Sans Serif Collection" panose="020B0502040504020204" pitchFamily="34" charset="0"/>
                    <a:ea typeface="Sans Serif Collection" panose="020B0502040504020204" pitchFamily="34" charset="0"/>
                    <a:cs typeface="Sans Serif Collection" panose="020B0502040504020204" pitchFamily="34" charset="0"/>
                  </a:rPr>
                  <a:t>The Logistic Map:</a:t>
                </a:r>
              </a:p>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14:m>
                  <m:oMath xmlns:m="http://schemas.openxmlformats.org/officeDocument/2006/math">
                    <m:sSub>
                      <m:sSubPr>
                        <m:ctrlP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ctrlPr>
                      </m:sSubPr>
                      <m:e>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𝑥</m:t>
                        </m:r>
                      </m:e>
                      <m:sub>
                        <m:d>
                          <m:dPr>
                            <m:begChr m:val="{"/>
                            <m:endChr m:val="}"/>
                            <m:ctrlP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ctrlPr>
                          </m:dPr>
                          <m:e>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𝑛</m:t>
                            </m:r>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+1</m:t>
                            </m:r>
                          </m:e>
                        </m:d>
                      </m:sub>
                    </m:sSub>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m:t>
                    </m:r>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𝑟</m:t>
                    </m:r>
                    <m:sSub>
                      <m:sSubPr>
                        <m:ctrlP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ctrlPr>
                      </m:sSubPr>
                      <m:e>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𝑥</m:t>
                        </m:r>
                      </m:e>
                      <m:sub>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𝑛</m:t>
                        </m:r>
                      </m:sub>
                    </m:sSub>
                    <m:d>
                      <m:dPr>
                        <m:ctrlP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ctrlPr>
                      </m:dPr>
                      <m:e>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1−</m:t>
                        </m:r>
                        <m:sSub>
                          <m:sSubPr>
                            <m:ctrlP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ctrlPr>
                          </m:sSubPr>
                          <m:e>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𝑥</m:t>
                            </m:r>
                          </m:e>
                          <m:sub>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𝑛</m:t>
                            </m:r>
                          </m:sub>
                        </m:sSub>
                      </m:e>
                    </m:d>
                  </m:oMath>
                </a14:m>
                <a:endParaRPr lang="en-US" sz="24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b="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These equations model the</a:t>
                </a:r>
              </a:p>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simple mathematics that </a:t>
                </a:r>
              </a:p>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eventually cause such </a:t>
                </a:r>
              </a:p>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complex behavior.</a:t>
                </a:r>
              </a:p>
            </p:txBody>
          </p:sp>
        </mc:Choice>
        <mc:Fallback>
          <p:sp>
            <p:nvSpPr>
              <p:cNvPr id="84" name="TextBox 83">
                <a:extLst>
                  <a:ext uri="{FF2B5EF4-FFF2-40B4-BE49-F238E27FC236}">
                    <a16:creationId xmlns:a16="http://schemas.microsoft.com/office/drawing/2014/main" id="{D210B5F3-E807-419B-568C-C39BB736C958}"/>
                  </a:ext>
                </a:extLst>
              </p:cNvPr>
              <p:cNvSpPr txBox="1">
                <a:spLocks noRot="1" noChangeAspect="1" noMove="1" noResize="1" noEditPoints="1" noAdjustHandles="1" noChangeArrowheads="1" noChangeShapeType="1" noTextEdit="1"/>
              </p:cNvSpPr>
              <p:nvPr/>
            </p:nvSpPr>
            <p:spPr>
              <a:xfrm>
                <a:off x="459257" y="9437250"/>
                <a:ext cx="10210799" cy="7531934"/>
              </a:xfrm>
              <a:prstGeom prst="rect">
                <a:avLst/>
              </a:prstGeom>
              <a:blipFill>
                <a:blip r:embed="rId6"/>
                <a:stretch>
                  <a:fillRect l="-896" t="-647" b="-809"/>
                </a:stretch>
              </a:blipFill>
            </p:spPr>
            <p:txBody>
              <a:bodyPr/>
              <a:lstStyle/>
              <a:p>
                <a:r>
                  <a:rPr lang="en-US">
                    <a:noFill/>
                  </a:rPr>
                  <a:t> </a:t>
                </a:r>
              </a:p>
            </p:txBody>
          </p:sp>
        </mc:Fallback>
      </mc:AlternateContent>
      <p:pic>
        <p:nvPicPr>
          <p:cNvPr id="176" name="Picture 175">
            <a:extLst>
              <a:ext uri="{FF2B5EF4-FFF2-40B4-BE49-F238E27FC236}">
                <a16:creationId xmlns:a16="http://schemas.microsoft.com/office/drawing/2014/main" id="{E67FFD76-FCE5-9578-37D6-0C73BB1DDED4}"/>
              </a:ext>
            </a:extLst>
          </p:cNvPr>
          <p:cNvPicPr>
            <a:picLocks noChangeAspect="1"/>
          </p:cNvPicPr>
          <p:nvPr/>
        </p:nvPicPr>
        <p:blipFill>
          <a:blip r:embed="rId7">
            <a:alphaModFix/>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val="0"/>
              </a:ext>
            </a:extLst>
          </a:blip>
          <a:srcRect l="1747" t="28424" b="4112"/>
          <a:stretch>
            <a:fillRect/>
          </a:stretch>
        </p:blipFill>
        <p:spPr>
          <a:xfrm>
            <a:off x="4513561" y="12444812"/>
            <a:ext cx="6139301" cy="4434840"/>
          </a:xfrm>
          <a:prstGeom prst="rect">
            <a:avLst/>
          </a:prstGeom>
        </p:spPr>
      </p:pic>
      <p:sp>
        <p:nvSpPr>
          <p:cNvPr id="177" name="TextBox 176">
            <a:extLst>
              <a:ext uri="{FF2B5EF4-FFF2-40B4-BE49-F238E27FC236}">
                <a16:creationId xmlns:a16="http://schemas.microsoft.com/office/drawing/2014/main" id="{02D93830-6623-C353-0CDA-CBA7B55A544B}"/>
              </a:ext>
            </a:extLst>
          </p:cNvPr>
          <p:cNvSpPr txBox="1"/>
          <p:nvPr/>
        </p:nvSpPr>
        <p:spPr>
          <a:xfrm>
            <a:off x="461916" y="16952916"/>
            <a:ext cx="10210799" cy="671691"/>
          </a:xfrm>
          <a:prstGeom prst="rect">
            <a:avLst/>
          </a:prstGeom>
          <a:solidFill>
            <a:schemeClr val="bg1"/>
          </a:solidFill>
        </p:spPr>
        <p:txBody>
          <a:bodyPr wrap="square" rtlCol="0">
            <a:spAutoFit/>
          </a:bodyPr>
          <a:lstStyle/>
          <a:p>
            <a:endParaRPr lang="en-US" dirty="0"/>
          </a:p>
        </p:txBody>
      </p:sp>
      <p:sp>
        <p:nvSpPr>
          <p:cNvPr id="178" name="TextBox 177">
            <a:extLst>
              <a:ext uri="{FF2B5EF4-FFF2-40B4-BE49-F238E27FC236}">
                <a16:creationId xmlns:a16="http://schemas.microsoft.com/office/drawing/2014/main" id="{C955DCE7-B349-6653-463E-16776DE4A054}"/>
              </a:ext>
            </a:extLst>
          </p:cNvPr>
          <p:cNvSpPr txBox="1"/>
          <p:nvPr/>
        </p:nvSpPr>
        <p:spPr>
          <a:xfrm>
            <a:off x="4850930" y="17007482"/>
            <a:ext cx="5821785" cy="646331"/>
          </a:xfrm>
          <a:prstGeom prst="rect">
            <a:avLst/>
          </a:prstGeom>
          <a:solidFill>
            <a:srgbClr val="DFEEF1"/>
          </a:solidFill>
        </p:spPr>
        <p:txBody>
          <a:bodyPr wrap="square" rtlCol="0">
            <a:spAutoFit/>
          </a:bodyPr>
          <a:lstStyle/>
          <a:p>
            <a:r>
              <a:rPr lang="en-US" dirty="0">
                <a:solidFill>
                  <a:srgbClr val="66023B"/>
                </a:solidFill>
                <a:latin typeface="Sans Serif Collection" panose="020B0502040504020204" pitchFamily="34" charset="0"/>
                <a:ea typeface="Sans Serif Collection" panose="020B0502040504020204" pitchFamily="34" charset="0"/>
                <a:cs typeface="Sans Serif Collection" panose="020B0502040504020204" pitchFamily="34" charset="0"/>
              </a:rPr>
              <a:t>Figures 1.1 and 1.2: The Doubling and Logistics maps and the concepts they help visualize.</a:t>
            </a:r>
          </a:p>
        </p:txBody>
      </p:sp>
      <p:pic>
        <p:nvPicPr>
          <p:cNvPr id="201" name="Picture 200">
            <a:extLst>
              <a:ext uri="{FF2B5EF4-FFF2-40B4-BE49-F238E27FC236}">
                <a16:creationId xmlns:a16="http://schemas.microsoft.com/office/drawing/2014/main" id="{9BF962BD-C376-68D0-D8D7-ACD3C34E72D7}"/>
              </a:ext>
            </a:extLst>
          </p:cNvPr>
          <p:cNvPicPr>
            <a:picLocks noChangeAspect="1"/>
          </p:cNvPicPr>
          <p:nvPr/>
        </p:nvPicPr>
        <p:blipFill>
          <a:blip r:embed="rId9">
            <a:extLst>
              <a:ext uri="{28A0092B-C50C-407E-A947-70E740481C1C}">
                <a14:useLocalDpi xmlns:a14="http://schemas.microsoft.com/office/drawing/2010/main" val="0"/>
              </a:ext>
            </a:extLst>
          </a:blip>
          <a:srcRect l="665" t="878" r="862" b="1168"/>
          <a:stretch>
            <a:fillRect/>
          </a:stretch>
        </p:blipFill>
        <p:spPr>
          <a:xfrm>
            <a:off x="15082482" y="7130100"/>
            <a:ext cx="6400800" cy="4796145"/>
          </a:xfrm>
          <a:prstGeom prst="rect">
            <a:avLst/>
          </a:prstGeom>
        </p:spPr>
      </p:pic>
      <mc:AlternateContent xmlns:mc="http://schemas.openxmlformats.org/markup-compatibility/2006">
        <mc:Choice xmlns:a14="http://schemas.microsoft.com/office/drawing/2010/main" Requires="a14">
          <p:sp>
            <p:nvSpPr>
              <p:cNvPr id="202" name="TextBox 201">
                <a:extLst>
                  <a:ext uri="{FF2B5EF4-FFF2-40B4-BE49-F238E27FC236}">
                    <a16:creationId xmlns:a16="http://schemas.microsoft.com/office/drawing/2014/main" id="{3FC72873-D3B7-8493-C697-54D66F081C75}"/>
                  </a:ext>
                </a:extLst>
              </p:cNvPr>
              <p:cNvSpPr txBox="1"/>
              <p:nvPr/>
            </p:nvSpPr>
            <p:spPr>
              <a:xfrm>
                <a:off x="11272483" y="12114451"/>
                <a:ext cx="10210800" cy="2308324"/>
              </a:xfrm>
              <a:prstGeom prst="rect">
                <a:avLst/>
              </a:prstGeom>
              <a:solidFill>
                <a:schemeClr val="bg1"/>
              </a:solidFill>
            </p:spPr>
            <p:txBody>
              <a:bodyPr wrap="square" rtlCol="0">
                <a:spAutoFit/>
              </a:bodyPr>
              <a:lstStyle/>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At the classical parameters: </a:t>
                </a:r>
              </a:p>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𝜎</m:t>
                      </m:r>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=10,  </m:t>
                      </m:r>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𝑝</m:t>
                      </m:r>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=28,  </m:t>
                      </m:r>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𝛽</m:t>
                      </m:r>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=8/3,</m:t>
                      </m:r>
                    </m:oMath>
                  </m:oMathPara>
                </a14:m>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the Lorenz equations generate the famous butterfly attractor, where trajectories never repeat. This shows that deterministic systems can exhibit complex, unpredictable behavior without any randomness</a:t>
                </a:r>
                <a:r>
                  <a:rPr lang="en-US" sz="2400" dirty="0"/>
                  <a:t>.</a:t>
                </a:r>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mc:Choice>
        <mc:Fallback>
          <p:sp>
            <p:nvSpPr>
              <p:cNvPr id="202" name="TextBox 201">
                <a:extLst>
                  <a:ext uri="{FF2B5EF4-FFF2-40B4-BE49-F238E27FC236}">
                    <a16:creationId xmlns:a16="http://schemas.microsoft.com/office/drawing/2014/main" id="{3FC72873-D3B7-8493-C697-54D66F081C75}"/>
                  </a:ext>
                </a:extLst>
              </p:cNvPr>
              <p:cNvSpPr txBox="1">
                <a:spLocks noRot="1" noChangeAspect="1" noMove="1" noResize="1" noEditPoints="1" noAdjustHandles="1" noChangeArrowheads="1" noChangeShapeType="1" noTextEdit="1"/>
              </p:cNvSpPr>
              <p:nvPr/>
            </p:nvSpPr>
            <p:spPr>
              <a:xfrm>
                <a:off x="11272483" y="12114451"/>
                <a:ext cx="10210800" cy="2308324"/>
              </a:xfrm>
              <a:prstGeom prst="rect">
                <a:avLst/>
              </a:prstGeom>
              <a:blipFill>
                <a:blip r:embed="rId10"/>
                <a:stretch>
                  <a:fillRect l="-896" b="-5805"/>
                </a:stretch>
              </a:blipFill>
            </p:spPr>
            <p:txBody>
              <a:bodyPr/>
              <a:lstStyle/>
              <a:p>
                <a:r>
                  <a:rPr lang="en-US">
                    <a:noFill/>
                  </a:rPr>
                  <a:t> </a:t>
                </a:r>
              </a:p>
            </p:txBody>
          </p:sp>
        </mc:Fallback>
      </mc:AlternateContent>
      <p:sp>
        <p:nvSpPr>
          <p:cNvPr id="209" name="TextBox 208">
            <a:extLst>
              <a:ext uri="{FF2B5EF4-FFF2-40B4-BE49-F238E27FC236}">
                <a16:creationId xmlns:a16="http://schemas.microsoft.com/office/drawing/2014/main" id="{73C9E332-74E9-5466-5B16-E9712F9A75BC}"/>
              </a:ext>
            </a:extLst>
          </p:cNvPr>
          <p:cNvSpPr txBox="1"/>
          <p:nvPr/>
        </p:nvSpPr>
        <p:spPr>
          <a:xfrm>
            <a:off x="11274547" y="6966306"/>
            <a:ext cx="3873433" cy="5365331"/>
          </a:xfrm>
          <a:prstGeom prst="rect">
            <a:avLst/>
          </a:prstGeom>
          <a:solidFill>
            <a:schemeClr val="bg1"/>
          </a:solidFill>
        </p:spPr>
        <p:txBody>
          <a:bodyPr wrap="square" rtlCol="0">
            <a:spAutoFit/>
          </a:bodyPr>
          <a:lstStyle/>
          <a:p>
            <a:pPr algn="ctr"/>
            <a:endParaRPr lang="en-US" sz="2400" b="1" dirty="0">
              <a:solidFill>
                <a:srgbClr val="3A7886"/>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204" name="Picture 203">
            <a:extLst>
              <a:ext uri="{FF2B5EF4-FFF2-40B4-BE49-F238E27FC236}">
                <a16:creationId xmlns:a16="http://schemas.microsoft.com/office/drawing/2014/main" id="{481FF95C-7690-539D-6995-2C177AD38DAC}"/>
              </a:ext>
            </a:extLst>
          </p:cNvPr>
          <p:cNvPicPr>
            <a:picLocks noChangeAspect="1"/>
          </p:cNvPicPr>
          <p:nvPr/>
        </p:nvPicPr>
        <p:blipFill>
          <a:blip r:embed="rId11">
            <a:duotone>
              <a:schemeClr val="accent5">
                <a:shade val="45000"/>
                <a:satMod val="135000"/>
              </a:schemeClr>
              <a:prstClr val="white"/>
            </a:duotone>
            <a:extLst>
              <a:ext uri="{28A0092B-C50C-407E-A947-70E740481C1C}">
                <a14:useLocalDpi xmlns:a14="http://schemas.microsoft.com/office/drawing/2010/main" val="0"/>
              </a:ext>
            </a:extLst>
          </a:blip>
          <a:srcRect l="17932" r="19962"/>
          <a:stretch>
            <a:fillRect/>
          </a:stretch>
        </p:blipFill>
        <p:spPr>
          <a:xfrm>
            <a:off x="11302124" y="7941286"/>
            <a:ext cx="3812541" cy="3028803"/>
          </a:xfrm>
          <a:prstGeom prst="rect">
            <a:avLst/>
          </a:prstGeom>
        </p:spPr>
      </p:pic>
      <p:sp>
        <p:nvSpPr>
          <p:cNvPr id="205" name="TextBox 204">
            <a:extLst>
              <a:ext uri="{FF2B5EF4-FFF2-40B4-BE49-F238E27FC236}">
                <a16:creationId xmlns:a16="http://schemas.microsoft.com/office/drawing/2014/main" id="{43A66E27-32ED-97FB-E4A5-CDD1711CF047}"/>
              </a:ext>
            </a:extLst>
          </p:cNvPr>
          <p:cNvSpPr txBox="1"/>
          <p:nvPr/>
        </p:nvSpPr>
        <p:spPr>
          <a:xfrm>
            <a:off x="11929183" y="6922119"/>
            <a:ext cx="8282899" cy="523220"/>
          </a:xfrm>
          <a:prstGeom prst="rect">
            <a:avLst/>
          </a:prstGeom>
          <a:solidFill>
            <a:schemeClr val="bg1"/>
          </a:solidFill>
        </p:spPr>
        <p:txBody>
          <a:bodyPr wrap="square" rtlCol="0">
            <a:spAutoFit/>
          </a:bodyPr>
          <a:lstStyle/>
          <a:p>
            <a:pPr algn="ctr"/>
            <a:r>
              <a:rPr lang="en-US" sz="2800" b="1" dirty="0">
                <a:solidFill>
                  <a:srgbClr val="3A7886"/>
                </a:solidFill>
                <a:latin typeface="Sans Serif Collection" panose="020B0502040504020204" pitchFamily="34" charset="0"/>
                <a:ea typeface="Sans Serif Collection" panose="020B0502040504020204" pitchFamily="34" charset="0"/>
                <a:cs typeface="Sans Serif Collection" panose="020B0502040504020204" pitchFamily="34" charset="0"/>
              </a:rPr>
              <a:t>The Lorenz Equations &amp; Attractor:                    </a:t>
            </a:r>
          </a:p>
        </p:txBody>
      </p:sp>
      <p:sp>
        <p:nvSpPr>
          <p:cNvPr id="207" name="TextBox 206">
            <a:extLst>
              <a:ext uri="{FF2B5EF4-FFF2-40B4-BE49-F238E27FC236}">
                <a16:creationId xmlns:a16="http://schemas.microsoft.com/office/drawing/2014/main" id="{08F17C3F-F6CD-7E45-70C8-23FA313A3119}"/>
              </a:ext>
            </a:extLst>
          </p:cNvPr>
          <p:cNvSpPr txBox="1"/>
          <p:nvPr/>
        </p:nvSpPr>
        <p:spPr>
          <a:xfrm>
            <a:off x="11272483" y="11787322"/>
            <a:ext cx="10210800" cy="369332"/>
          </a:xfrm>
          <a:prstGeom prst="rect">
            <a:avLst/>
          </a:prstGeom>
          <a:solidFill>
            <a:srgbClr val="DFEEF1"/>
          </a:solidFill>
        </p:spPr>
        <p:txBody>
          <a:bodyPr wrap="square" rtlCol="0">
            <a:spAutoFit/>
          </a:bodyPr>
          <a:lstStyle/>
          <a:p>
            <a:r>
              <a:rPr lang="en-US" dirty="0">
                <a:solidFill>
                  <a:srgbClr val="66023B"/>
                </a:solidFill>
                <a:latin typeface="Sans Serif Collection" panose="020B0502040504020204" pitchFamily="34" charset="0"/>
                <a:ea typeface="Sans Serif Collection" panose="020B0502040504020204" pitchFamily="34" charset="0"/>
                <a:cs typeface="Sans Serif Collection" panose="020B0502040504020204" pitchFamily="34" charset="0"/>
              </a:rPr>
              <a:t>Fig 1.4: The famous Butterfly attractor and the Lorenz equations</a:t>
            </a:r>
          </a:p>
        </p:txBody>
      </p:sp>
      <p:pic>
        <p:nvPicPr>
          <p:cNvPr id="211" name="Picture 210">
            <a:extLst>
              <a:ext uri="{FF2B5EF4-FFF2-40B4-BE49-F238E27FC236}">
                <a16:creationId xmlns:a16="http://schemas.microsoft.com/office/drawing/2014/main" id="{9EC61E90-2B6D-7F73-676A-2D2A37D97D3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54145" y="19060082"/>
            <a:ext cx="10210799" cy="7249174"/>
          </a:xfrm>
          <a:prstGeom prst="rect">
            <a:avLst/>
          </a:prstGeom>
        </p:spPr>
      </p:pic>
      <p:sp>
        <p:nvSpPr>
          <p:cNvPr id="181" name="TextBox 180">
            <a:extLst>
              <a:ext uri="{FF2B5EF4-FFF2-40B4-BE49-F238E27FC236}">
                <a16:creationId xmlns:a16="http://schemas.microsoft.com/office/drawing/2014/main" id="{67B3B3D9-DACA-E786-0339-B074B6984CE3}"/>
              </a:ext>
            </a:extLst>
          </p:cNvPr>
          <p:cNvSpPr txBox="1"/>
          <p:nvPr/>
        </p:nvSpPr>
        <p:spPr>
          <a:xfrm>
            <a:off x="451096" y="26309256"/>
            <a:ext cx="10213848" cy="646331"/>
          </a:xfrm>
          <a:prstGeom prst="rect">
            <a:avLst/>
          </a:prstGeom>
          <a:solidFill>
            <a:srgbClr val="DFEEF1"/>
          </a:solidFill>
        </p:spPr>
        <p:txBody>
          <a:bodyPr wrap="square" rtlCol="0">
            <a:spAutoFit/>
          </a:bodyPr>
          <a:lstStyle/>
          <a:p>
            <a:r>
              <a:rPr lang="en-US" dirty="0">
                <a:solidFill>
                  <a:srgbClr val="66023B"/>
                </a:solidFill>
                <a:latin typeface="Sans Serif Collection" panose="020B0502040504020204" pitchFamily="34" charset="0"/>
                <a:ea typeface="Sans Serif Collection" panose="020B0502040504020204" pitchFamily="34" charset="0"/>
                <a:cs typeface="Sans Serif Collection" panose="020B0502040504020204" pitchFamily="34" charset="0"/>
              </a:rPr>
              <a:t>Fig 1.3: Period-doubling cascade leading to deterministic chaos and corresponding Lyapunov Exponent values.</a:t>
            </a:r>
          </a:p>
        </p:txBody>
      </p:sp>
      <mc:AlternateContent xmlns:mc="http://schemas.openxmlformats.org/markup-compatibility/2006">
        <mc:Choice xmlns:a14="http://schemas.microsoft.com/office/drawing/2010/main" Requires="a14">
          <p:sp>
            <p:nvSpPr>
              <p:cNvPr id="85" name="TextBox 84">
                <a:extLst>
                  <a:ext uri="{FF2B5EF4-FFF2-40B4-BE49-F238E27FC236}">
                    <a16:creationId xmlns:a16="http://schemas.microsoft.com/office/drawing/2014/main" id="{D57D566F-2CB2-AE92-5592-2A6C08AD2280}"/>
                  </a:ext>
                </a:extLst>
              </p:cNvPr>
              <p:cNvSpPr txBox="1"/>
              <p:nvPr/>
            </p:nvSpPr>
            <p:spPr>
              <a:xfrm>
                <a:off x="454146" y="26958910"/>
                <a:ext cx="10210798" cy="5262979"/>
              </a:xfrm>
              <a:prstGeom prst="rect">
                <a:avLst/>
              </a:prstGeom>
              <a:solidFill>
                <a:schemeClr val="bg1"/>
              </a:solidFill>
            </p:spPr>
            <p:txBody>
              <a:bodyPr wrap="square" rtlCol="0">
                <a:spAutoFit/>
              </a:bodyPr>
              <a:lstStyle/>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Increasing nonlinearity causes a deterministic system to transition from order to chaos through a sequence of period-doubling bifurcations. In the Logistic Map, as the control parameter increases, a stable equilibrium becomes oscillations between 2, 4, 8, and progressively more states before entering the chaotic regime. </a:t>
                </a:r>
              </a:p>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Another intriguing concept is the Feigenbaum constant, where the ratio of spacing between successive bifurcations approaches its value:</a:t>
                </a:r>
              </a:p>
              <a:p>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𝛿</m:t>
                      </m:r>
                      <m:r>
                        <a:rPr lang="en-US" sz="2400" b="0" i="1" smtClean="0">
                          <a:latin typeface="Cambria Math" panose="02040503050406030204" pitchFamily="18" charset="0"/>
                          <a:ea typeface="Sans Serif Collection" panose="020B0502040504020204" pitchFamily="34" charset="0"/>
                          <a:cs typeface="Sans Serif Collection" panose="020B0502040504020204" pitchFamily="34" charset="0"/>
                        </a:rPr>
                        <m:t>≈4.669</m:t>
                      </m:r>
                    </m:oMath>
                  </m:oMathPara>
                </a14:m>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The </a:t>
                </a:r>
                <a:r>
                  <a:rPr lang="en-US" sz="2400" b="1" dirty="0">
                    <a:latin typeface="Sans Serif Collection" panose="020B0502040504020204" pitchFamily="34" charset="0"/>
                    <a:ea typeface="Sans Serif Collection" panose="020B0502040504020204" pitchFamily="34" charset="0"/>
                    <a:cs typeface="Sans Serif Collection" panose="020B0502040504020204" pitchFamily="34" charset="0"/>
                  </a:rPr>
                  <a:t>Lyapunov exponent (</a:t>
                </a:r>
                <a14:m>
                  <m:oMath xmlns:m="http://schemas.openxmlformats.org/officeDocument/2006/math">
                    <m:r>
                      <a:rPr lang="en-US" sz="2400" b="1" i="1" smtClean="0">
                        <a:latin typeface="Cambria Math" panose="02040503050406030204" pitchFamily="18" charset="0"/>
                      </a:rPr>
                      <m:t>𝝀</m:t>
                    </m:r>
                  </m:oMath>
                </a14:m>
                <a:r>
                  <a:rPr lang="en-US" sz="2400" b="1"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measures how rapidly nearby trajectories diverge. Negative values indicate stable behavior, while positive values identify chaotic dynamics.</a:t>
                </a:r>
              </a:p>
              <a:p>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Together, these tools explain when and how deterministic systems become chaotic, shown in Figure 1.3</a:t>
                </a:r>
              </a:p>
            </p:txBody>
          </p:sp>
        </mc:Choice>
        <mc:Fallback>
          <p:sp>
            <p:nvSpPr>
              <p:cNvPr id="85" name="TextBox 84">
                <a:extLst>
                  <a:ext uri="{FF2B5EF4-FFF2-40B4-BE49-F238E27FC236}">
                    <a16:creationId xmlns:a16="http://schemas.microsoft.com/office/drawing/2014/main" id="{D57D566F-2CB2-AE92-5592-2A6C08AD2280}"/>
                  </a:ext>
                </a:extLst>
              </p:cNvPr>
              <p:cNvSpPr txBox="1">
                <a:spLocks noRot="1" noChangeAspect="1" noMove="1" noResize="1" noEditPoints="1" noAdjustHandles="1" noChangeArrowheads="1" noChangeShapeType="1" noTextEdit="1"/>
              </p:cNvSpPr>
              <p:nvPr/>
            </p:nvSpPr>
            <p:spPr>
              <a:xfrm>
                <a:off x="454146" y="26958910"/>
                <a:ext cx="10210798" cy="5262979"/>
              </a:xfrm>
              <a:prstGeom prst="rect">
                <a:avLst/>
              </a:prstGeom>
              <a:blipFill>
                <a:blip r:embed="rId13"/>
                <a:stretch>
                  <a:fillRect l="-896" t="-926" r="-716" b="-1620"/>
                </a:stretch>
              </a:blipFill>
            </p:spPr>
            <p:txBody>
              <a:bodyPr/>
              <a:lstStyle/>
              <a:p>
                <a:r>
                  <a:rPr lang="en-US">
                    <a:noFill/>
                  </a:rPr>
                  <a:t> </a:t>
                </a:r>
              </a:p>
            </p:txBody>
          </p:sp>
        </mc:Fallback>
      </mc:AlternateContent>
      <p:sp>
        <p:nvSpPr>
          <p:cNvPr id="88" name="TextBox 87">
            <a:extLst>
              <a:ext uri="{FF2B5EF4-FFF2-40B4-BE49-F238E27FC236}">
                <a16:creationId xmlns:a16="http://schemas.microsoft.com/office/drawing/2014/main" id="{96B4D426-8793-B041-2BFA-EB3103215851}"/>
              </a:ext>
            </a:extLst>
          </p:cNvPr>
          <p:cNvSpPr txBox="1"/>
          <p:nvPr/>
        </p:nvSpPr>
        <p:spPr>
          <a:xfrm>
            <a:off x="11271977" y="15899821"/>
            <a:ext cx="10210799" cy="11172289"/>
          </a:xfrm>
          <a:prstGeom prst="rect">
            <a:avLst/>
          </a:prstGeom>
          <a:solidFill>
            <a:schemeClr val="bg1"/>
          </a:solidFill>
        </p:spPr>
        <p:txBody>
          <a:bodyPr wrap="square" rtlCol="0">
            <a:spAutoFit/>
          </a:bodyPr>
          <a:lstStyle/>
          <a:p>
            <a:r>
              <a:rPr lang="en-US" sz="2400" b="1" dirty="0">
                <a:latin typeface="Sans Serif Collection" panose="020B0502040504020204" pitchFamily="34" charset="0"/>
                <a:ea typeface="Sans Serif Collection" panose="020B0502040504020204" pitchFamily="34" charset="0"/>
                <a:cs typeface="Sans Serif Collection" panose="020B0502040504020204" pitchFamily="34" charset="0"/>
              </a:rPr>
              <a:t>Chua's Circuit</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is the simplest physical electronic circuit capable of generating chaos. Its nonlinear resistor introduces the nonlinearity required for chaotic motion, producing the characteristic double-scroll attractor. Like the Lorenz system, nearby trajectories diverge rapidly while remaining confined within a bounded region, demonstrating the </a:t>
            </a:r>
            <a:r>
              <a:rPr lang="en-US" sz="2400" b="1" dirty="0">
                <a:latin typeface="Sans Serif Collection" panose="020B0502040504020204" pitchFamily="34" charset="0"/>
                <a:ea typeface="Sans Serif Collection" panose="020B0502040504020204" pitchFamily="34" charset="0"/>
                <a:cs typeface="Sans Serif Collection" panose="020B0502040504020204" pitchFamily="34" charset="0"/>
              </a:rPr>
              <a:t>Butterfly Effect in an electrical system</a:t>
            </a:r>
            <a:r>
              <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rPr>
              <a:t>. This illustrates that the same mathematical principles governing chaotic maps and atmospheric models also apply to real engineering systems, with applications in secure communications, nonlinear electronics, and signal processing.</a:t>
            </a: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endParaRPr lang="en-US" sz="24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pic>
        <p:nvPicPr>
          <p:cNvPr id="218" name="Picture 217">
            <a:extLst>
              <a:ext uri="{FF2B5EF4-FFF2-40B4-BE49-F238E27FC236}">
                <a16:creationId xmlns:a16="http://schemas.microsoft.com/office/drawing/2014/main" id="{045644B3-A5DD-1DB7-3307-D3A018713D39}"/>
              </a:ext>
            </a:extLst>
          </p:cNvPr>
          <p:cNvPicPr>
            <a:picLocks noChangeAspect="1"/>
          </p:cNvPicPr>
          <p:nvPr/>
        </p:nvPicPr>
        <p:blipFill>
          <a:blip r:embed="rId14">
            <a:extLst>
              <a:ext uri="{28A0092B-C50C-407E-A947-70E740481C1C}">
                <a14:useLocalDpi xmlns:a14="http://schemas.microsoft.com/office/drawing/2010/main" val="0"/>
              </a:ext>
            </a:extLst>
          </a:blip>
          <a:srcRect l="21445" t="4747" r="14886" b="12128"/>
          <a:stretch>
            <a:fillRect/>
          </a:stretch>
        </p:blipFill>
        <p:spPr>
          <a:xfrm>
            <a:off x="11280655" y="19668224"/>
            <a:ext cx="6774861" cy="7111482"/>
          </a:xfrm>
          <a:prstGeom prst="rect">
            <a:avLst/>
          </a:prstGeom>
        </p:spPr>
      </p:pic>
      <p:sp>
        <p:nvSpPr>
          <p:cNvPr id="219" name="TextBox 218">
            <a:extLst>
              <a:ext uri="{FF2B5EF4-FFF2-40B4-BE49-F238E27FC236}">
                <a16:creationId xmlns:a16="http://schemas.microsoft.com/office/drawing/2014/main" id="{9F7D9FEF-FEB2-BAD6-D083-31756215C12C}"/>
              </a:ext>
            </a:extLst>
          </p:cNvPr>
          <p:cNvSpPr txBox="1"/>
          <p:nvPr/>
        </p:nvSpPr>
        <p:spPr>
          <a:xfrm>
            <a:off x="12414392" y="19914263"/>
            <a:ext cx="4358641" cy="646331"/>
          </a:xfrm>
          <a:prstGeom prst="rect">
            <a:avLst/>
          </a:prstGeom>
          <a:noFill/>
        </p:spPr>
        <p:txBody>
          <a:bodyPr wrap="square" rtlCol="0">
            <a:spAutoFit/>
          </a:bodyPr>
          <a:lstStyle/>
          <a:p>
            <a:pPr algn="ctr"/>
            <a:r>
              <a:rPr lang="en-US" b="1" dirty="0">
                <a:highlight>
                  <a:srgbClr val="FFFFFF"/>
                </a:highlight>
              </a:rPr>
              <a:t>(a) Nearby Trajectories in Chua’s Circuit: Double-scroll Attractor</a:t>
            </a:r>
          </a:p>
        </p:txBody>
      </p:sp>
      <p:pic>
        <p:nvPicPr>
          <p:cNvPr id="221" name="Picture 220">
            <a:extLst>
              <a:ext uri="{FF2B5EF4-FFF2-40B4-BE49-F238E27FC236}">
                <a16:creationId xmlns:a16="http://schemas.microsoft.com/office/drawing/2014/main" id="{E15C66CA-239F-C7CA-A75C-FBEE2A9C556B}"/>
              </a:ext>
            </a:extLst>
          </p:cNvPr>
          <p:cNvPicPr>
            <a:picLocks noChangeAspect="1"/>
          </p:cNvPicPr>
          <p:nvPr/>
        </p:nvPicPr>
        <p:blipFill>
          <a:blip r:embed="rId15">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8169135" y="20237429"/>
            <a:ext cx="3182334" cy="1717234"/>
          </a:xfrm>
          <a:prstGeom prst="rect">
            <a:avLst/>
          </a:prstGeom>
          <a:solidFill>
            <a:schemeClr val="bg1"/>
          </a:solidFill>
        </p:spPr>
      </p:pic>
      <p:sp>
        <p:nvSpPr>
          <p:cNvPr id="222" name="TextBox 221">
            <a:extLst>
              <a:ext uri="{FF2B5EF4-FFF2-40B4-BE49-F238E27FC236}">
                <a16:creationId xmlns:a16="http://schemas.microsoft.com/office/drawing/2014/main" id="{0BD66866-CC39-3943-D631-B73240FBDDD6}"/>
              </a:ext>
            </a:extLst>
          </p:cNvPr>
          <p:cNvSpPr txBox="1"/>
          <p:nvPr/>
        </p:nvSpPr>
        <p:spPr>
          <a:xfrm>
            <a:off x="17906770" y="19747664"/>
            <a:ext cx="4038830" cy="369332"/>
          </a:xfrm>
          <a:prstGeom prst="rect">
            <a:avLst/>
          </a:prstGeom>
          <a:noFill/>
        </p:spPr>
        <p:txBody>
          <a:bodyPr wrap="square" rtlCol="0">
            <a:spAutoFit/>
          </a:bodyPr>
          <a:lstStyle/>
          <a:p>
            <a:r>
              <a:rPr lang="en-US" b="1" dirty="0">
                <a:ea typeface="Sans Serif Collection" panose="020B0502040504020204" pitchFamily="34" charset="0"/>
                <a:cs typeface="Sans Serif Collection" panose="020B0502040504020204" pitchFamily="34" charset="0"/>
              </a:rPr>
              <a:t>(b) Chua’s dimensionless equations</a:t>
            </a:r>
          </a:p>
        </p:txBody>
      </p:sp>
      <p:pic>
        <p:nvPicPr>
          <p:cNvPr id="224" name="Picture 223">
            <a:extLst>
              <a:ext uri="{FF2B5EF4-FFF2-40B4-BE49-F238E27FC236}">
                <a16:creationId xmlns:a16="http://schemas.microsoft.com/office/drawing/2014/main" id="{5201616F-19DB-1DC1-363C-FF291F8BF7E2}"/>
              </a:ext>
            </a:extLst>
          </p:cNvPr>
          <p:cNvPicPr>
            <a:picLocks noChangeAspect="1"/>
          </p:cNvPicPr>
          <p:nvPr/>
        </p:nvPicPr>
        <p:blipFill>
          <a:blip r:embed="rId16">
            <a:duotone>
              <a:schemeClr val="accent1">
                <a:shade val="45000"/>
                <a:satMod val="135000"/>
              </a:schemeClr>
              <a:prstClr val="white"/>
            </a:duotone>
            <a:extLst>
              <a:ext uri="{28A0092B-C50C-407E-A947-70E740481C1C}">
                <a14:useLocalDpi xmlns:a14="http://schemas.microsoft.com/office/drawing/2010/main" val="0"/>
              </a:ext>
            </a:extLst>
          </a:blip>
          <a:srcRect l="12229" r="16809" b="7158"/>
          <a:stretch>
            <a:fillRect/>
          </a:stretch>
        </p:blipFill>
        <p:spPr>
          <a:xfrm>
            <a:off x="18563845" y="22034572"/>
            <a:ext cx="2724679" cy="2659425"/>
          </a:xfrm>
          <a:prstGeom prst="rect">
            <a:avLst/>
          </a:prstGeom>
        </p:spPr>
      </p:pic>
      <p:sp>
        <p:nvSpPr>
          <p:cNvPr id="225" name="TextBox 224">
            <a:extLst>
              <a:ext uri="{FF2B5EF4-FFF2-40B4-BE49-F238E27FC236}">
                <a16:creationId xmlns:a16="http://schemas.microsoft.com/office/drawing/2014/main" id="{C96EF490-2282-20DB-8875-34B31CF4F41A}"/>
              </a:ext>
            </a:extLst>
          </p:cNvPr>
          <p:cNvSpPr txBox="1"/>
          <p:nvPr/>
        </p:nvSpPr>
        <p:spPr>
          <a:xfrm>
            <a:off x="18559544" y="22165274"/>
            <a:ext cx="2667000" cy="369332"/>
          </a:xfrm>
          <a:prstGeom prst="rect">
            <a:avLst/>
          </a:prstGeom>
          <a:solidFill>
            <a:schemeClr val="bg1"/>
          </a:solidFill>
        </p:spPr>
        <p:txBody>
          <a:bodyPr wrap="square" rtlCol="0">
            <a:spAutoFit/>
          </a:bodyPr>
          <a:lstStyle/>
          <a:p>
            <a:pPr algn="ctr"/>
            <a:r>
              <a:rPr lang="en-US" b="1" dirty="0"/>
              <a:t>(c) Chua’s Circuit</a:t>
            </a:r>
          </a:p>
        </p:txBody>
      </p:sp>
      <mc:AlternateContent xmlns:mc="http://schemas.openxmlformats.org/markup-compatibility/2006">
        <mc:Choice xmlns:a14="http://schemas.microsoft.com/office/drawing/2010/main" Requires="a14">
          <p:sp>
            <p:nvSpPr>
              <p:cNvPr id="226" name="TextBox 225">
                <a:extLst>
                  <a:ext uri="{FF2B5EF4-FFF2-40B4-BE49-F238E27FC236}">
                    <a16:creationId xmlns:a16="http://schemas.microsoft.com/office/drawing/2014/main" id="{09EF6797-2AD1-064D-26E6-C069D0A42B4D}"/>
                  </a:ext>
                </a:extLst>
              </p:cNvPr>
              <p:cNvSpPr txBox="1"/>
              <p:nvPr/>
            </p:nvSpPr>
            <p:spPr>
              <a:xfrm>
                <a:off x="17691928" y="24427479"/>
                <a:ext cx="3975321" cy="2308324"/>
              </a:xfrm>
              <a:prstGeom prst="rect">
                <a:avLst/>
              </a:prstGeom>
              <a:noFill/>
            </p:spPr>
            <p:txBody>
              <a:bodyPr wrap="square" rtlCol="0">
                <a:spAutoFit/>
              </a:bodyPr>
              <a:lstStyle/>
              <a:p>
                <a:pPr algn="ct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Components:</a:t>
                </a:r>
              </a:p>
              <a:p>
                <a:pPr marL="285750" indent="-285750">
                  <a:buFont typeface="Arial" panose="020B0604020202020204" pitchFamily="34" charset="0"/>
                  <a:buChar char="•"/>
                </a:pP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Capacitor </a:t>
                </a:r>
                <a14:m>
                  <m:oMath xmlns:m="http://schemas.openxmlformats.org/officeDocument/2006/math">
                    <m:sSub>
                      <m:sSubPr>
                        <m:ctrlPr>
                          <a:rPr lang="en-US" sz="1600"/>
                        </m:ctrlPr>
                      </m:sSubPr>
                      <m:e>
                        <m:r>
                          <a:rPr lang="en-US" sz="1600" b="0" i="1" smtClean="0">
                            <a:latin typeface="Cambria Math" panose="02040503050406030204" pitchFamily="18" charset="0"/>
                          </a:rPr>
                          <m:t>𝐶</m:t>
                        </m:r>
                      </m:e>
                      <m:sub>
                        <m:r>
                          <a:rPr lang="en-US" sz="1600" b="0" i="1" smtClean="0">
                            <a:latin typeface="Cambria Math" panose="02040503050406030204" pitchFamily="18" charset="0"/>
                          </a:rPr>
                          <m:t>1</m:t>
                        </m:r>
                      </m:sub>
                    </m:sSub>
                  </m:oMath>
                </a14:m>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 Stores electrical energy.</a:t>
                </a:r>
              </a:p>
              <a:p>
                <a:pPr marL="285750" indent="-285750">
                  <a:buFont typeface="Arial" panose="020B0604020202020204" pitchFamily="34" charset="0"/>
                  <a:buChar char="•"/>
                </a:pP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Capacitor </a:t>
                </a:r>
                <a14:m>
                  <m:oMath xmlns:m="http://schemas.openxmlformats.org/officeDocument/2006/math">
                    <m:sSub>
                      <m:sSubPr>
                        <m:ctrlPr>
                          <a:rPr lang="en-US" sz="1600"/>
                        </m:ctrlPr>
                      </m:sSubPr>
                      <m:e>
                        <m:r>
                          <a:rPr lang="en-US" sz="1600" b="0" i="1" smtClean="0">
                            <a:latin typeface="Cambria Math" panose="02040503050406030204" pitchFamily="18" charset="0"/>
                          </a:rPr>
                          <m:t>𝐶</m:t>
                        </m:r>
                      </m:e>
                      <m:sub>
                        <m:r>
                          <a:rPr lang="en-US" sz="1600" b="0" i="1" smtClean="0">
                            <a:latin typeface="Cambria Math" panose="02040503050406030204" pitchFamily="18" charset="0"/>
                          </a:rPr>
                          <m:t>2</m:t>
                        </m:r>
                      </m:sub>
                    </m:sSub>
                  </m:oMath>
                </a14:m>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285750" indent="-285750">
                  <a:buFont typeface="Arial" panose="020B0604020202020204" pitchFamily="34" charset="0"/>
                  <a:buChar char="•"/>
                </a:pP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Inductor </a:t>
                </a:r>
                <a14:m>
                  <m:oMath xmlns:m="http://schemas.openxmlformats.org/officeDocument/2006/math">
                    <m:r>
                      <a:rPr lang="en-US" sz="1600" b="0" i="1" smtClean="0">
                        <a:latin typeface="Cambria Math" panose="02040503050406030204" pitchFamily="18" charset="0"/>
                      </a:rPr>
                      <m:t>𝐿</m:t>
                    </m:r>
                  </m:oMath>
                </a14:m>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 Stores magnetic energy (current </a:t>
                </a:r>
                <a14:m>
                  <m:oMath xmlns:m="http://schemas.openxmlformats.org/officeDocument/2006/math">
                    <m:sSub>
                      <m:sSubPr>
                        <m:ctrlPr>
                          <a:rPr lang="en-US" sz="1600"/>
                        </m:ctrlPr>
                      </m:sSubPr>
                      <m:e>
                        <m:r>
                          <a:rPr lang="en-US" sz="1600" b="0" i="1" smtClean="0">
                            <a:latin typeface="Cambria Math" panose="02040503050406030204" pitchFamily="18" charset="0"/>
                          </a:rPr>
                          <m:t>𝑖</m:t>
                        </m:r>
                      </m:e>
                      <m:sub>
                        <m:r>
                          <a:rPr lang="en-US" sz="1600" b="0" i="1" smtClean="0">
                            <a:latin typeface="Cambria Math" panose="02040503050406030204" pitchFamily="18" charset="0"/>
                          </a:rPr>
                          <m:t>𝐿</m:t>
                        </m:r>
                      </m:sub>
                    </m:sSub>
                  </m:oMath>
                </a14:m>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p>
              <a:p>
                <a:pPr marL="285750" indent="-285750">
                  <a:buFont typeface="Arial" panose="020B0604020202020204" pitchFamily="34" charset="0"/>
                  <a:buChar char="•"/>
                </a:pP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Linear Resistor </a:t>
                </a:r>
                <a14:m>
                  <m:oMath xmlns:m="http://schemas.openxmlformats.org/officeDocument/2006/math">
                    <m:r>
                      <a:rPr lang="en-US" sz="1600" b="0" i="1" smtClean="0">
                        <a:latin typeface="Cambria Math" panose="02040503050406030204" pitchFamily="18" charset="0"/>
                      </a:rPr>
                      <m:t>𝑅</m:t>
                    </m:r>
                  </m:oMath>
                </a14:m>
                <a:endParaRPr lang="en-US" sz="1600" dirty="0">
                  <a:latin typeface="Sans Serif Collection" panose="020B0502040504020204" pitchFamily="34" charset="0"/>
                </a:endParaRPr>
              </a:p>
              <a:p>
                <a:pPr marL="285750" indent="-285750">
                  <a:buFont typeface="Arial" panose="020B0604020202020204" pitchFamily="34" charset="0"/>
                  <a:buChar char="•"/>
                </a:pPr>
                <a:r>
                  <a:rPr lang="en-US" sz="1600" dirty="0">
                    <a:latin typeface="Sans Serif Collection" panose="020B0502040504020204" pitchFamily="34" charset="0"/>
                    <a:ea typeface="Sans Serif Collection" panose="020B0502040504020204" pitchFamily="34" charset="0"/>
                    <a:cs typeface="Sans Serif Collection" panose="020B0502040504020204" pitchFamily="34" charset="0"/>
                  </a:rPr>
                  <a:t>Nonlinear Resistor (Chua's Diode): Introduces nonlinearity.</a:t>
                </a:r>
              </a:p>
            </p:txBody>
          </p:sp>
        </mc:Choice>
        <mc:Fallback>
          <p:sp>
            <p:nvSpPr>
              <p:cNvPr id="226" name="TextBox 225">
                <a:extLst>
                  <a:ext uri="{FF2B5EF4-FFF2-40B4-BE49-F238E27FC236}">
                    <a16:creationId xmlns:a16="http://schemas.microsoft.com/office/drawing/2014/main" id="{09EF6797-2AD1-064D-26E6-C069D0A42B4D}"/>
                  </a:ext>
                </a:extLst>
              </p:cNvPr>
              <p:cNvSpPr txBox="1">
                <a:spLocks noRot="1" noChangeAspect="1" noMove="1" noResize="1" noEditPoints="1" noAdjustHandles="1" noChangeArrowheads="1" noChangeShapeType="1" noTextEdit="1"/>
              </p:cNvSpPr>
              <p:nvPr/>
            </p:nvSpPr>
            <p:spPr>
              <a:xfrm>
                <a:off x="17691928" y="24427479"/>
                <a:ext cx="3975321" cy="2308324"/>
              </a:xfrm>
              <a:prstGeom prst="rect">
                <a:avLst/>
              </a:prstGeom>
              <a:blipFill>
                <a:blip r:embed="rId17"/>
                <a:stretch>
                  <a:fillRect l="-613" t="-792" b="-2375"/>
                </a:stretch>
              </a:blipFill>
            </p:spPr>
            <p:txBody>
              <a:bodyPr/>
              <a:lstStyle/>
              <a:p>
                <a:r>
                  <a:rPr lang="en-US">
                    <a:noFill/>
                  </a:rPr>
                  <a:t> </a:t>
                </a:r>
              </a:p>
            </p:txBody>
          </p:sp>
        </mc:Fallback>
      </mc:AlternateContent>
      <p:sp>
        <p:nvSpPr>
          <p:cNvPr id="229" name="TextBox 228">
            <a:extLst>
              <a:ext uri="{FF2B5EF4-FFF2-40B4-BE49-F238E27FC236}">
                <a16:creationId xmlns:a16="http://schemas.microsoft.com/office/drawing/2014/main" id="{FBAB6E93-CA92-7F98-0E82-DA06AB1D8A72}"/>
              </a:ext>
            </a:extLst>
          </p:cNvPr>
          <p:cNvSpPr txBox="1"/>
          <p:nvPr/>
        </p:nvSpPr>
        <p:spPr>
          <a:xfrm>
            <a:off x="11267840" y="27051421"/>
            <a:ext cx="10213848" cy="923330"/>
          </a:xfrm>
          <a:prstGeom prst="rect">
            <a:avLst/>
          </a:prstGeom>
          <a:solidFill>
            <a:srgbClr val="DFEEF1"/>
          </a:solidFill>
        </p:spPr>
        <p:txBody>
          <a:bodyPr wrap="square" rtlCol="0">
            <a:spAutoFit/>
          </a:bodyPr>
          <a:lstStyle/>
          <a:p>
            <a:r>
              <a:rPr lang="en-US" dirty="0">
                <a:solidFill>
                  <a:srgbClr val="66023B"/>
                </a:solidFill>
                <a:latin typeface="Sans Serif Collection" panose="020B0502040504020204" pitchFamily="34" charset="0"/>
                <a:ea typeface="Sans Serif Collection" panose="020B0502040504020204" pitchFamily="34" charset="0"/>
                <a:cs typeface="Sans Serif Collection" panose="020B0502040504020204" pitchFamily="34" charset="0"/>
              </a:rPr>
              <a:t>Fig 1.5: (a) The double scroll attractor showing two nearby trajectories and their unpredictable, varying paths. (b) The equations modelling Chua’s circuit. (c) The circuit and its components.</a:t>
            </a:r>
          </a:p>
        </p:txBody>
      </p:sp>
      <p:sp>
        <p:nvSpPr>
          <p:cNvPr id="237" name="TextBox 236">
            <a:extLst>
              <a:ext uri="{FF2B5EF4-FFF2-40B4-BE49-F238E27FC236}">
                <a16:creationId xmlns:a16="http://schemas.microsoft.com/office/drawing/2014/main" id="{9969F027-8C0D-21AE-9723-AC51C462165D}"/>
              </a:ext>
            </a:extLst>
          </p:cNvPr>
          <p:cNvSpPr txBox="1"/>
          <p:nvPr/>
        </p:nvSpPr>
        <p:spPr>
          <a:xfrm>
            <a:off x="12034922" y="32146556"/>
            <a:ext cx="10210798" cy="369332"/>
          </a:xfrm>
          <a:prstGeom prst="rect">
            <a:avLst/>
          </a:prstGeom>
          <a:noFill/>
        </p:spPr>
        <p:txBody>
          <a:bodyPr wrap="square" rtlCol="0">
            <a:spAutoFit/>
          </a:bodyPr>
          <a:lstStyle/>
          <a:p>
            <a:r>
              <a:rPr lang="en-US" dirty="0">
                <a:solidFill>
                  <a:srgbClr val="66023B"/>
                </a:solidFill>
                <a:latin typeface="Sans Serif Collection" panose="020B0502040504020204" pitchFamily="34" charset="0"/>
                <a:ea typeface="Sans Serif Collection" panose="020B0502040504020204" pitchFamily="34" charset="0"/>
                <a:cs typeface="Sans Serif Collection" panose="020B0502040504020204" pitchFamily="34" charset="0"/>
              </a:rPr>
              <a:t>**All figures and graphs simulated using python during the duration of the program</a:t>
            </a:r>
          </a:p>
        </p:txBody>
      </p:sp>
    </p:spTree>
    <p:extLst>
      <p:ext uri="{BB962C8B-B14F-4D97-AF65-F5344CB8AC3E}">
        <p14:creationId xmlns:p14="http://schemas.microsoft.com/office/powerpoint/2010/main" val="381463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D06A0E-111C-8B01-73E4-690AA55C7CEC}"/>
              </a:ext>
            </a:extLst>
          </p:cNvPr>
          <p:cNvPicPr>
            <a:picLocks noChangeAspect="1"/>
          </p:cNvPicPr>
          <p:nvPr/>
        </p:nvPicPr>
        <p:blipFill>
          <a:blip r:embed="rId2">
            <a:extLst>
              <a:ext uri="{28A0092B-C50C-407E-A947-70E740481C1C}">
                <a14:useLocalDpi xmlns:a14="http://schemas.microsoft.com/office/drawing/2010/main" val="0"/>
              </a:ext>
            </a:extLst>
          </a:blip>
          <a:srcRect l="1440" t="18500" r="1285" b="17934"/>
          <a:stretch>
            <a:fillRect/>
          </a:stretch>
        </p:blipFill>
        <p:spPr>
          <a:xfrm>
            <a:off x="-76098" y="1"/>
            <a:ext cx="22097796" cy="32918400"/>
          </a:xfrm>
          <a:prstGeom prst="rect">
            <a:avLst/>
          </a:prstGeom>
        </p:spPr>
      </p:pic>
    </p:spTree>
    <p:extLst>
      <p:ext uri="{BB962C8B-B14F-4D97-AF65-F5344CB8AC3E}">
        <p14:creationId xmlns:p14="http://schemas.microsoft.com/office/powerpoint/2010/main" val="26009011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2142</TotalTime>
  <Words>745</Words>
  <Application>Microsoft Office PowerPoint</Application>
  <PresentationFormat>Custom</PresentationFormat>
  <Paragraphs>72</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Calibri Light</vt:lpstr>
      <vt:lpstr>Cambria Math</vt:lpstr>
      <vt:lpstr>Sans Serif Collection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zainab ☆</dc:creator>
  <cp:lastModifiedBy>zainab ☆</cp:lastModifiedBy>
  <cp:revision>2</cp:revision>
  <dcterms:created xsi:type="dcterms:W3CDTF">2026-07-21T11:03:41Z</dcterms:created>
  <dcterms:modified xsi:type="dcterms:W3CDTF">2026-07-22T22:46:34Z</dcterms:modified>
</cp:coreProperties>
</file>